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8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2079"/>
    <a:srgbClr val="072179"/>
    <a:srgbClr val="B4C7E7"/>
    <a:srgbClr val="134894"/>
    <a:srgbClr val="1CC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0" d="100"/>
          <a:sy n="70" d="100"/>
        </p:scale>
        <p:origin x="1166" y="3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shika Madhanagopal" userId="1f34188ea61c3645" providerId="LiveId" clId="{76485ECD-7F14-4138-B189-03A3E4C41375}"/>
    <pc:docChg chg="undo custSel modSld">
      <pc:chgData name="Rishika Madhanagopal" userId="1f34188ea61c3645" providerId="LiveId" clId="{76485ECD-7F14-4138-B189-03A3E4C41375}" dt="2024-03-23T05:51:04.434" v="106" actId="2710"/>
      <pc:docMkLst>
        <pc:docMk/>
      </pc:docMkLst>
      <pc:sldChg chg="modSp mod">
        <pc:chgData name="Rishika Madhanagopal" userId="1f34188ea61c3645" providerId="LiveId" clId="{76485ECD-7F14-4138-B189-03A3E4C41375}" dt="2024-03-23T05:43:19.485" v="102" actId="20577"/>
        <pc:sldMkLst>
          <pc:docMk/>
          <pc:sldMk cId="248993608" sldId="266"/>
        </pc:sldMkLst>
        <pc:spChg chg="mod">
          <ac:chgData name="Rishika Madhanagopal" userId="1f34188ea61c3645" providerId="LiveId" clId="{76485ECD-7F14-4138-B189-03A3E4C41375}" dt="2024-03-23T05:43:19.485" v="102" actId="20577"/>
          <ac:spMkLst>
            <pc:docMk/>
            <pc:sldMk cId="248993608" sldId="266"/>
            <ac:spMk id="2" creationId="{C624060B-5968-BE7B-DCD9-3F1AD82F636B}"/>
          </ac:spMkLst>
        </pc:spChg>
      </pc:sldChg>
      <pc:sldChg chg="delSp modSp mod">
        <pc:chgData name="Rishika Madhanagopal" userId="1f34188ea61c3645" providerId="LiveId" clId="{76485ECD-7F14-4138-B189-03A3E4C41375}" dt="2024-03-23T05:51:04.434" v="106" actId="2710"/>
        <pc:sldMkLst>
          <pc:docMk/>
          <pc:sldMk cId="559000699" sldId="267"/>
        </pc:sldMkLst>
        <pc:spChg chg="mod">
          <ac:chgData name="Rishika Madhanagopal" userId="1f34188ea61c3645" providerId="LiveId" clId="{76485ECD-7F14-4138-B189-03A3E4C41375}" dt="2024-03-23T05:34:15.944" v="28" actId="20577"/>
          <ac:spMkLst>
            <pc:docMk/>
            <pc:sldMk cId="559000699" sldId="267"/>
            <ac:spMk id="7" creationId="{6A3F9CE8-9E1A-1525-1606-C6056E973A99}"/>
          </ac:spMkLst>
        </pc:spChg>
        <pc:spChg chg="mod">
          <ac:chgData name="Rishika Madhanagopal" userId="1f34188ea61c3645" providerId="LiveId" clId="{76485ECD-7F14-4138-B189-03A3E4C41375}" dt="2024-03-23T05:51:04.434" v="106" actId="2710"/>
          <ac:spMkLst>
            <pc:docMk/>
            <pc:sldMk cId="559000699" sldId="267"/>
            <ac:spMk id="10" creationId="{546CC9B6-6ADC-737E-0546-3D5C69991EE3}"/>
          </ac:spMkLst>
        </pc:spChg>
        <pc:spChg chg="del mod">
          <ac:chgData name="Rishika Madhanagopal" userId="1f34188ea61c3645" providerId="LiveId" clId="{76485ECD-7F14-4138-B189-03A3E4C41375}" dt="2024-03-23T05:34:24.928" v="30" actId="478"/>
          <ac:spMkLst>
            <pc:docMk/>
            <pc:sldMk cId="559000699" sldId="267"/>
            <ac:spMk id="11" creationId="{B6221353-AF0B-162D-8383-D8F15F2BDF74}"/>
          </ac:spMkLst>
        </pc:spChg>
        <pc:spChg chg="del">
          <ac:chgData name="Rishika Madhanagopal" userId="1f34188ea61c3645" providerId="LiveId" clId="{76485ECD-7F14-4138-B189-03A3E4C41375}" dt="2024-03-23T05:34:31.643" v="32" actId="478"/>
          <ac:spMkLst>
            <pc:docMk/>
            <pc:sldMk cId="559000699" sldId="267"/>
            <ac:spMk id="16" creationId="{7BD04517-D151-A000-AC4C-C142D3D79590}"/>
          </ac:spMkLst>
        </pc:spChg>
        <pc:picChg chg="del">
          <ac:chgData name="Rishika Madhanagopal" userId="1f34188ea61c3645" providerId="LiveId" clId="{76485ECD-7F14-4138-B189-03A3E4C41375}" dt="2024-03-23T05:34:27.904" v="31" actId="478"/>
          <ac:picMkLst>
            <pc:docMk/>
            <pc:sldMk cId="559000699" sldId="267"/>
            <ac:picMk id="5" creationId="{FB9CFD2B-C2CB-BD61-C29C-B41262D1AE58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65268AF-85B1-833E-F056-7F511D4C64B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A80F75-490A-56E1-4F5B-1A09070C832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44BEF5-9A2A-4C53-B987-39EF42B38EE6}" type="datetimeFigureOut">
              <a:rPr lang="en-IN" smtClean="0"/>
              <a:t>30-05-2024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1A1CCE-99CB-B94C-5C30-B07868CE722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820246-9F47-C750-C8AA-882CC9C3414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FFACA5-6B3C-4570-BB8F-0DD7321037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63675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EE5201-AAEA-46C8-97B2-DD924D11CD21}" type="datetimeFigureOut">
              <a:rPr lang="en-IN" smtClean="0"/>
              <a:t>30-05-2024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4EDD24-758C-4B10-AB41-9403364171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093618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7804D-0536-D43A-7F9F-80C5DAE4B4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53654E-2B8E-E63A-7247-FFBF605269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165ECF-3ADC-5FAA-0824-B93EF1575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4DB5D-3199-420F-92AA-23D7980688C1}" type="datetime1">
              <a:rPr lang="en-IN" smtClean="0"/>
              <a:t>30-05-2024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96C0E-A927-03C5-FBF1-19B9949B5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C3D657-032A-9465-61E4-05E5E323D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C7F80-EE1A-4CD1-A379-9B77B0EEE1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5470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9B130-6980-E83B-01C8-4888C8418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8E803-AFAE-795F-0E66-15FF7808EB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020841-128B-1EF9-4D07-EEBA8AC46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E6ED-1F48-4D20-842E-E28EAE4DBD89}" type="datetime1">
              <a:rPr lang="en-IN" smtClean="0"/>
              <a:t>30-05-2024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24F2CC-D8B4-ADA7-4D2C-E9FAA2EF4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ED5908-14D1-8B7C-9BCA-455351CD4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C7F80-EE1A-4CD1-A379-9B77B0EEE1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3073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78397-F18E-C974-8B60-CB8D8B5DE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647554-DB37-36B2-F0BE-9ED50CEB7E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9D918F-74A3-D126-321F-DFD6B7008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080EC-0623-428B-AC1E-8CC656D59DD0}" type="datetime1">
              <a:rPr lang="en-IN" smtClean="0"/>
              <a:t>30-05-2024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CD8326-CE73-19A5-7721-9358BA17C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DAAB29-4074-51C8-C147-BD2F42DD4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C7F80-EE1A-4CD1-A379-9B77B0EEE1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1872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BA72A-3AA4-57E5-BF49-B33686D83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13252-5D9D-AE4A-C6C1-44012EB19E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DEF38D-62E0-D2EB-C790-DE31F1713E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2EFD48-CDE3-76E6-8ABE-3ABECDE13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43AF0-3DBE-4B57-91FC-B0BD069ECDF1}" type="datetime1">
              <a:rPr lang="en-IN" smtClean="0"/>
              <a:t>30-05-2024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712070-A980-6BB9-E1AB-1F1130B45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73CA2F-A4D3-4CAD-F74C-F88EC89DC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C7F80-EE1A-4CD1-A379-9B77B0EEE1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5791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60073-1301-3E53-6736-064203FF6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8F6018-1131-05B2-625C-56C7352FEC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9E59DF-B4EB-0740-7DF0-CFCBC58422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B38097-2652-DF97-FAA7-AD74FAA360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EE5D20-4986-F9C4-CEBD-C03738F6A6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633C20-408E-5918-EB23-E63620A72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1A7B1-2CD3-4AF1-AF86-D767A0A645FC}" type="datetime1">
              <a:rPr lang="en-IN" smtClean="0"/>
              <a:t>30-05-2024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4E180E-A271-1B97-4BAB-7D75590BD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ACBC80-9E94-DEDA-4B02-87EE47249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C7F80-EE1A-4CD1-A379-9B77B0EEE1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0849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B58AB-FA76-B73B-535A-E83C99691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A38BF8-3480-E0A4-C8D9-26645D277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96AD7-73F2-4405-86F7-0636295D4ADB}" type="datetime1">
              <a:rPr lang="en-IN" smtClean="0"/>
              <a:t>30-05-2024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84F4BD-80EE-3575-9ABD-2A452CFA2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D85ECF-981A-7C93-5F82-5EF45F650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C7F80-EE1A-4CD1-A379-9B77B0EEE1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4249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B206ED-2CB0-BD1C-F75A-49BA40E48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7D421-4845-4CA5-ABD2-465338C2CA68}" type="datetime1">
              <a:rPr lang="en-IN" smtClean="0"/>
              <a:t>30-05-2024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50FF11-394B-74D7-D2EA-4E8D7EC2C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4779F8-D869-C20E-00D6-A953270C3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C7F80-EE1A-4CD1-A379-9B77B0EEE1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1452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EC636-3138-CCD6-6FE2-1C5CA4C21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93E25E-36A0-1DEE-452B-77FD678F4B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6B7AFB-FB3E-DC24-D573-29AA2A0A4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0D420F-E2A6-8FF8-4C96-CCDA6BBDC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704B7-EB75-40EA-A0E8-20353F77DF62}" type="datetime1">
              <a:rPr lang="en-IN" smtClean="0"/>
              <a:t>30-05-2024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CC042E-D036-F73B-8F4A-B1170D4D4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F974E6-0967-617E-F346-906F34172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C7F80-EE1A-4CD1-A379-9B77B0EEE1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0339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7B1FA-8420-2706-BE55-8C97EFA04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800E21-80D2-1918-07AB-9247BE6EEE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5ECCCE-A85C-C09B-951C-8CEDBC2087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E33173-67B8-C8BD-7D24-71EEAA943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EBB6A-EF1D-4850-ABA6-189DB22D8CEA}" type="datetime1">
              <a:rPr lang="en-IN" smtClean="0"/>
              <a:t>30-05-2024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829E22-D0B6-A5F4-550C-A97F0C978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3F243F-C2FC-32BD-4FDD-928AF7E8D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C7F80-EE1A-4CD1-A379-9B77B0EEE1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6693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C3D58-CE0B-2362-A678-D0B1952DA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7F6B22-54F6-E83F-4150-CD17A37B2B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BA2C62-EBF0-D057-B64F-2455BFCA9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7C941-51F5-47AB-878E-3AC8EC251D70}" type="datetime1">
              <a:rPr lang="en-IN" smtClean="0"/>
              <a:t>30-05-2024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B6F68-46D5-0D2F-0DF1-069592654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2333D0-C839-177B-3979-94C542979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C7F80-EE1A-4CD1-A379-9B77B0EEE1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1627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66D5BE-EABB-BBDA-98B4-9812E98BB6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9DDC08-DCD2-47E9-A7E0-786C6DB029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5B7E3-876D-0C30-A319-8E1D37F1D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6F620-948F-49A9-8391-BCC410A1AFCB}" type="datetime1">
              <a:rPr lang="en-IN" smtClean="0"/>
              <a:t>30-05-2024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D664A9-7308-9780-A241-D73997EF1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39B09-0C44-B3D3-197D-A0584BDAC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C7F80-EE1A-4CD1-A379-9B77B0EEE1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0664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32060E-248E-417D-5335-66EE5BA1C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82D806-2794-11B3-2FD4-3CA55FAF35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8E2A7B-F5E5-5014-F1B4-5BF69E3CEA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90C044-BA31-4CB3-9F80-146549195669}" type="datetime1">
              <a:rPr lang="en-IN" smtClean="0"/>
              <a:t>30-05-2024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29D921-050D-3F49-DDC8-9382FBA20E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4F8CE3-08AF-E49B-9D54-90A6AD4E47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0C7F80-EE1A-4CD1-A379-9B77B0EEE1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955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svg"/><Relationship Id="rId7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1" Type="http://schemas.openxmlformats.org/officeDocument/2006/relationships/image" Target="../media/image13.png"/><Relationship Id="rId5" Type="http://schemas.openxmlformats.org/officeDocument/2006/relationships/image" Target="../media/image6.png"/><Relationship Id="rId10" Type="http://schemas.openxmlformats.org/officeDocument/2006/relationships/image" Target="../media/image12.png"/><Relationship Id="rId4" Type="http://schemas.openxmlformats.org/officeDocument/2006/relationships/image" Target="../media/image8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technologynetworks.com/immunology/news/possible-role-for-newly-discovered-immune-cell-population-in-ms-341971" TargetMode="External"/><Relationship Id="rId3" Type="http://schemas.openxmlformats.org/officeDocument/2006/relationships/image" Target="../media/image3.png"/><Relationship Id="rId7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4.svg"/><Relationship Id="rId9" Type="http://schemas.openxmlformats.org/officeDocument/2006/relationships/image" Target="../media/image17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3" Type="http://schemas.openxmlformats.org/officeDocument/2006/relationships/image" Target="../media/image4.svg"/><Relationship Id="rId7" Type="http://schemas.openxmlformats.org/officeDocument/2006/relationships/image" Target="../media/image19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e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Blue Abstract Wallpapers | HD Wallpapers | ID #5090">
            <a:extLst>
              <a:ext uri="{FF2B5EF4-FFF2-40B4-BE49-F238E27FC236}">
                <a16:creationId xmlns:a16="http://schemas.microsoft.com/office/drawing/2014/main" id="{353C42A2-55DB-B7EF-9307-E7CFE965DD6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" b="5000"/>
          <a:stretch/>
        </p:blipFill>
        <p:spPr bwMode="auto">
          <a:xfrm>
            <a:off x="0" y="0"/>
            <a:ext cx="1219199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C97A804-7242-F490-EF7D-33DF364BD7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3021" y="1227296"/>
            <a:ext cx="5219411" cy="2707935"/>
          </a:xfrm>
        </p:spPr>
        <p:txBody>
          <a:bodyPr>
            <a:normAutofit/>
          </a:bodyPr>
          <a:lstStyle/>
          <a:p>
            <a:pPr algn="l"/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Prediction Of Flares In RA Patient 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FD5818B-36CD-E59A-FA21-919E8CB05F9B}"/>
              </a:ext>
            </a:extLst>
          </p:cNvPr>
          <p:cNvSpPr/>
          <p:nvPr/>
        </p:nvSpPr>
        <p:spPr>
          <a:xfrm>
            <a:off x="1308720" y="3948809"/>
            <a:ext cx="3569079" cy="835841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Leveraging Machine Learning on Flow Cytometry Data</a:t>
            </a:r>
            <a:endParaRPr lang="en-IN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EE25530-A7B6-82AE-F472-0CB74018D3F7}"/>
              </a:ext>
            </a:extLst>
          </p:cNvPr>
          <p:cNvSpPr/>
          <p:nvPr/>
        </p:nvSpPr>
        <p:spPr>
          <a:xfrm>
            <a:off x="6532007" y="1057175"/>
            <a:ext cx="4572012" cy="45720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 descr="Understanding Arthritis: Symptoms and Treatments">
            <a:extLst>
              <a:ext uri="{FF2B5EF4-FFF2-40B4-BE49-F238E27FC236}">
                <a16:creationId xmlns:a16="http://schemas.microsoft.com/office/drawing/2014/main" id="{4E609613-1667-C85B-A95C-AF1A118704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49" t="5393" r="10546" b="3197"/>
          <a:stretch>
            <a:fillRect/>
          </a:stretch>
        </p:blipFill>
        <p:spPr bwMode="auto">
          <a:xfrm>
            <a:off x="6329989" y="1128686"/>
            <a:ext cx="4654455" cy="4654455"/>
          </a:xfrm>
          <a:custGeom>
            <a:avLst/>
            <a:gdLst>
              <a:gd name="connsiteX0" fmla="*/ 2176702 w 4353404"/>
              <a:gd name="connsiteY0" fmla="*/ 0 h 4353404"/>
              <a:gd name="connsiteX1" fmla="*/ 4353404 w 4353404"/>
              <a:gd name="connsiteY1" fmla="*/ 2176702 h 4353404"/>
              <a:gd name="connsiteX2" fmla="*/ 2176702 w 4353404"/>
              <a:gd name="connsiteY2" fmla="*/ 4353404 h 4353404"/>
              <a:gd name="connsiteX3" fmla="*/ 0 w 4353404"/>
              <a:gd name="connsiteY3" fmla="*/ 2176702 h 4353404"/>
              <a:gd name="connsiteX4" fmla="*/ 2176702 w 4353404"/>
              <a:gd name="connsiteY4" fmla="*/ 0 h 4353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53404" h="4353404">
                <a:moveTo>
                  <a:pt x="2176702" y="0"/>
                </a:moveTo>
                <a:cubicBezTo>
                  <a:pt x="3378861" y="0"/>
                  <a:pt x="4353404" y="974543"/>
                  <a:pt x="4353404" y="2176702"/>
                </a:cubicBezTo>
                <a:cubicBezTo>
                  <a:pt x="4353404" y="3378861"/>
                  <a:pt x="3378861" y="4353404"/>
                  <a:pt x="2176702" y="4353404"/>
                </a:cubicBezTo>
                <a:cubicBezTo>
                  <a:pt x="974543" y="4353404"/>
                  <a:pt x="0" y="3378861"/>
                  <a:pt x="0" y="2176702"/>
                </a:cubicBezTo>
                <a:cubicBezTo>
                  <a:pt x="0" y="974543"/>
                  <a:pt x="974543" y="0"/>
                  <a:pt x="2176702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2C9CE07-BE4B-D830-8917-6E9A004EDF1F}"/>
              </a:ext>
            </a:extLst>
          </p:cNvPr>
          <p:cNvCxnSpPr/>
          <p:nvPr/>
        </p:nvCxnSpPr>
        <p:spPr>
          <a:xfrm>
            <a:off x="1042906" y="0"/>
            <a:ext cx="0" cy="2730119"/>
          </a:xfrm>
          <a:prstGeom prst="line">
            <a:avLst/>
          </a:prstGeom>
          <a:ln w="349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F5E318-3714-9253-6B78-205AEF4F9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C7F80-EE1A-4CD1-A379-9B77B0EEE16D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018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B6E2FDC0-D1D8-6880-B950-77983AD6EA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74419" y="12812"/>
            <a:ext cx="4217581" cy="1528909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EE7B950E-B16B-BF82-067C-53627F259F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-1" y="5695634"/>
            <a:ext cx="2573080" cy="116236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329DBB0-ACE5-378D-4DCD-636181A8A08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6667"/>
          <a:stretch/>
        </p:blipFill>
        <p:spPr>
          <a:xfrm>
            <a:off x="10148184" y="2334090"/>
            <a:ext cx="1678587" cy="3026871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E3558D60-C7D8-A2CD-3C8D-C9F7B6954F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7976" y="411651"/>
            <a:ext cx="530548" cy="709148"/>
          </a:xfrm>
          <a:prstGeom prst="rect">
            <a:avLst/>
          </a:prstGeom>
        </p:spPr>
      </p:pic>
      <p:sp>
        <p:nvSpPr>
          <p:cNvPr id="15" name="Rectangle: Top Corners Rounded 14">
            <a:extLst>
              <a:ext uri="{FF2B5EF4-FFF2-40B4-BE49-F238E27FC236}">
                <a16:creationId xmlns:a16="http://schemas.microsoft.com/office/drawing/2014/main" id="{470B0998-55F8-ED84-EA20-E71856F92773}"/>
              </a:ext>
            </a:extLst>
          </p:cNvPr>
          <p:cNvSpPr/>
          <p:nvPr/>
        </p:nvSpPr>
        <p:spPr>
          <a:xfrm rot="16200000">
            <a:off x="6488365" y="-4649291"/>
            <a:ext cx="576238" cy="10831033"/>
          </a:xfrm>
          <a:prstGeom prst="round2Same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F50E88-129A-8F58-F204-3DE8D879B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9006" y="539434"/>
            <a:ext cx="10102702" cy="453582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E7B1550-B69D-F0E9-5A1F-A07A71045EFF}"/>
              </a:ext>
            </a:extLst>
          </p:cNvPr>
          <p:cNvGrpSpPr/>
          <p:nvPr/>
        </p:nvGrpSpPr>
        <p:grpSpPr>
          <a:xfrm>
            <a:off x="985427" y="1453038"/>
            <a:ext cx="3344364" cy="2009285"/>
            <a:chOff x="588335" y="1419715"/>
            <a:chExt cx="2670225" cy="3247593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9C93524E-D191-7CAC-2445-3DF585287C60}"/>
                </a:ext>
              </a:extLst>
            </p:cNvPr>
            <p:cNvSpPr/>
            <p:nvPr/>
          </p:nvSpPr>
          <p:spPr>
            <a:xfrm>
              <a:off x="588335" y="1674503"/>
              <a:ext cx="2670225" cy="2992805"/>
            </a:xfrm>
            <a:prstGeom prst="roundRect">
              <a:avLst>
                <a:gd name="adj" fmla="val 7141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3" name="Rectangle: Top Corners Rounded 22">
              <a:extLst>
                <a:ext uri="{FF2B5EF4-FFF2-40B4-BE49-F238E27FC236}">
                  <a16:creationId xmlns:a16="http://schemas.microsoft.com/office/drawing/2014/main" id="{6A3859E1-AC6F-19E9-80B5-B21E9A6A3DF9}"/>
                </a:ext>
              </a:extLst>
            </p:cNvPr>
            <p:cNvSpPr/>
            <p:nvPr/>
          </p:nvSpPr>
          <p:spPr>
            <a:xfrm>
              <a:off x="588335" y="1419715"/>
              <a:ext cx="2670225" cy="1025388"/>
            </a:xfrm>
            <a:prstGeom prst="round2Same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rgbClr val="B4C7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dirty="0">
                  <a:solidFill>
                    <a:schemeClr val="bg1"/>
                  </a:solidFill>
                  <a:latin typeface="Arial" panose="020B0604020202020204" pitchFamily="34" charset="0"/>
                  <a:ea typeface="+mn-lt"/>
                  <a:cs typeface="Arial" panose="020B0604020202020204" pitchFamily="34" charset="0"/>
                </a:rPr>
                <a:t>Overview of </a:t>
              </a:r>
              <a:r>
                <a:rPr lang="en-IN" sz="1600" b="0" i="0" dirty="0">
                  <a:solidFill>
                    <a:schemeClr val="bg1"/>
                  </a:solidFill>
                  <a:effectLst/>
                  <a:latin typeface="Arial" panose="020B0604020202020204" pitchFamily="34" charset="0"/>
                  <a:ea typeface="+mn-lt"/>
                  <a:cs typeface="Arial" panose="020B0604020202020204" pitchFamily="34" charset="0"/>
                </a:rPr>
                <a:t>Rheumatoid </a:t>
              </a:r>
              <a:br>
                <a:rPr lang="en-IN" sz="1600" b="0" i="0" dirty="0">
                  <a:solidFill>
                    <a:schemeClr val="bg1"/>
                  </a:solidFill>
                  <a:effectLst/>
                  <a:latin typeface="Arial" panose="020B0604020202020204" pitchFamily="34" charset="0"/>
                  <a:ea typeface="+mn-lt"/>
                  <a:cs typeface="Arial" panose="020B0604020202020204" pitchFamily="34" charset="0"/>
                </a:rPr>
              </a:br>
              <a:r>
                <a:rPr lang="en-IN" sz="1600" b="0" i="0" dirty="0">
                  <a:solidFill>
                    <a:schemeClr val="bg1"/>
                  </a:solidFill>
                  <a:effectLst/>
                  <a:latin typeface="Arial" panose="020B0604020202020204" pitchFamily="34" charset="0"/>
                  <a:ea typeface="+mn-lt"/>
                  <a:cs typeface="Arial" panose="020B0604020202020204" pitchFamily="34" charset="0"/>
                </a:rPr>
                <a:t>Arthritis </a:t>
              </a:r>
              <a:r>
                <a:rPr lang="en-IN" sz="1600" dirty="0">
                  <a:solidFill>
                    <a:schemeClr val="bg1"/>
                  </a:solidFill>
                  <a:latin typeface="Arial" panose="020B0604020202020204" pitchFamily="34" charset="0"/>
                  <a:ea typeface="+mn-lt"/>
                  <a:cs typeface="Arial" panose="020B0604020202020204" pitchFamily="34" charset="0"/>
                </a:rPr>
                <a:t>(RA)</a:t>
              </a:r>
              <a:endPara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Content Placeholder 2">
              <a:extLst>
                <a:ext uri="{FF2B5EF4-FFF2-40B4-BE49-F238E27FC236}">
                  <a16:creationId xmlns:a16="http://schemas.microsoft.com/office/drawing/2014/main" id="{3ACBC003-1001-F5C5-6AD2-16BC6C88D71E}"/>
                </a:ext>
              </a:extLst>
            </p:cNvPr>
            <p:cNvSpPr txBox="1">
              <a:spLocks/>
            </p:cNvSpPr>
            <p:nvPr/>
          </p:nvSpPr>
          <p:spPr>
            <a:xfrm>
              <a:off x="712464" y="2588438"/>
              <a:ext cx="2421967" cy="1713609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sz="1400" dirty="0">
                  <a:solidFill>
                    <a:srgbClr val="0D0D0D"/>
                  </a:solidFill>
                  <a:latin typeface="Arial" panose="020B0604020202020204" pitchFamily="34" charset="0"/>
                  <a:ea typeface="+mn-lt"/>
                  <a:cs typeface="Arial" panose="020B0604020202020204" pitchFamily="34" charset="0"/>
                </a:rPr>
                <a:t>Chronic autoimmune disorder</a:t>
              </a:r>
            </a:p>
            <a:p>
              <a:pPr>
                <a:lnSpc>
                  <a:spcPct val="100000"/>
                </a:lnSpc>
              </a:pPr>
              <a:r>
                <a:rPr lang="en-US" sz="1400" dirty="0">
                  <a:solidFill>
                    <a:srgbClr val="0D0D0D"/>
                  </a:solidFill>
                  <a:latin typeface="Arial" panose="020B0604020202020204" pitchFamily="34" charset="0"/>
                  <a:ea typeface="+mn-lt"/>
                  <a:cs typeface="Arial" panose="020B0604020202020204" pitchFamily="34" charset="0"/>
                </a:rPr>
                <a:t>Characterized by inflammation, pain, and joint damage</a:t>
              </a:r>
            </a:p>
            <a:p>
              <a:pPr>
                <a:lnSpc>
                  <a:spcPct val="100000"/>
                </a:lnSpc>
              </a:pPr>
              <a:r>
                <a:rPr lang="en-US" sz="1400" dirty="0">
                  <a:solidFill>
                    <a:srgbClr val="0D0D0D"/>
                  </a:solidFill>
                  <a:latin typeface="Arial" panose="020B0604020202020204" pitchFamily="34" charset="0"/>
                  <a:ea typeface="+mn-lt"/>
                  <a:cs typeface="Arial" panose="020B0604020202020204" pitchFamily="34" charset="0"/>
                </a:rPr>
                <a:t>Relapsing and remitting nature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3E0186A-DF75-9657-2A1B-75EEC638951B}"/>
              </a:ext>
            </a:extLst>
          </p:cNvPr>
          <p:cNvGrpSpPr/>
          <p:nvPr/>
        </p:nvGrpSpPr>
        <p:grpSpPr>
          <a:xfrm>
            <a:off x="4627436" y="1453038"/>
            <a:ext cx="3397570" cy="2009285"/>
            <a:chOff x="3361212" y="1419715"/>
            <a:chExt cx="2679050" cy="3247593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41351D50-B3B4-9401-65A5-EE219D64B343}"/>
                </a:ext>
              </a:extLst>
            </p:cNvPr>
            <p:cNvSpPr/>
            <p:nvPr/>
          </p:nvSpPr>
          <p:spPr>
            <a:xfrm>
              <a:off x="3370037" y="1674503"/>
              <a:ext cx="2670225" cy="2992805"/>
            </a:xfrm>
            <a:prstGeom prst="roundRect">
              <a:avLst>
                <a:gd name="adj" fmla="val 7141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4" name="Rectangle: Top Corners Rounded 23">
              <a:extLst>
                <a:ext uri="{FF2B5EF4-FFF2-40B4-BE49-F238E27FC236}">
                  <a16:creationId xmlns:a16="http://schemas.microsoft.com/office/drawing/2014/main" id="{9D6E8A51-09FE-4735-066B-1B4611C151C9}"/>
                </a:ext>
              </a:extLst>
            </p:cNvPr>
            <p:cNvSpPr/>
            <p:nvPr/>
          </p:nvSpPr>
          <p:spPr>
            <a:xfrm>
              <a:off x="3361212" y="1419715"/>
              <a:ext cx="2679050" cy="1025388"/>
            </a:xfrm>
            <a:prstGeom prst="round2Same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rgbClr val="B4C7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b="0" i="0" dirty="0">
                  <a:solidFill>
                    <a:schemeClr val="bg1"/>
                  </a:solidFill>
                  <a:effectLst/>
                  <a:latin typeface="Arial" panose="020B0604020202020204" pitchFamily="34" charset="0"/>
                  <a:ea typeface="+mn-lt"/>
                  <a:cs typeface="Arial" panose="020B0604020202020204" pitchFamily="34" charset="0"/>
                </a:rPr>
                <a:t>Hypothesis</a:t>
              </a:r>
              <a:endParaRPr lang="en-IN" sz="1600" dirty="0">
                <a:solidFill>
                  <a:schemeClr val="bg1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endParaRPr>
            </a:p>
          </p:txBody>
        </p:sp>
        <p:sp>
          <p:nvSpPr>
            <p:cNvPr id="28" name="Content Placeholder 2">
              <a:extLst>
                <a:ext uri="{FF2B5EF4-FFF2-40B4-BE49-F238E27FC236}">
                  <a16:creationId xmlns:a16="http://schemas.microsoft.com/office/drawing/2014/main" id="{5E82E129-F1D0-5D8D-BF06-9A8EA19E0B23}"/>
                </a:ext>
              </a:extLst>
            </p:cNvPr>
            <p:cNvSpPr txBox="1">
              <a:spLocks/>
            </p:cNvSpPr>
            <p:nvPr/>
          </p:nvSpPr>
          <p:spPr>
            <a:xfrm>
              <a:off x="3476515" y="2588438"/>
              <a:ext cx="2421967" cy="1713609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sz="1400" dirty="0">
                  <a:solidFill>
                    <a:srgbClr val="0D0D0D"/>
                  </a:solidFill>
                  <a:latin typeface="Arial" panose="020B0604020202020204" pitchFamily="34" charset="0"/>
                  <a:ea typeface="+mn-lt"/>
                  <a:cs typeface="Arial" panose="020B0604020202020204" pitchFamily="34" charset="0"/>
                </a:rPr>
                <a:t>RA comprises distinct pathotypes with varied flare mechanisms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11792E1-0069-BF66-B3CA-32B2B3717F85}"/>
              </a:ext>
            </a:extLst>
          </p:cNvPr>
          <p:cNvGrpSpPr/>
          <p:nvPr/>
        </p:nvGrpSpPr>
        <p:grpSpPr>
          <a:xfrm>
            <a:off x="985427" y="3670317"/>
            <a:ext cx="3344364" cy="2258757"/>
            <a:chOff x="6151739" y="1419715"/>
            <a:chExt cx="2670225" cy="3247593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76133F44-10C3-AEAC-BD13-07780A25A340}"/>
                </a:ext>
              </a:extLst>
            </p:cNvPr>
            <p:cNvSpPr/>
            <p:nvPr/>
          </p:nvSpPr>
          <p:spPr>
            <a:xfrm>
              <a:off x="6151739" y="1674503"/>
              <a:ext cx="2670225" cy="2992805"/>
            </a:xfrm>
            <a:prstGeom prst="roundRect">
              <a:avLst>
                <a:gd name="adj" fmla="val 7141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Rectangle: Top Corners Rounded 24">
              <a:extLst>
                <a:ext uri="{FF2B5EF4-FFF2-40B4-BE49-F238E27FC236}">
                  <a16:creationId xmlns:a16="http://schemas.microsoft.com/office/drawing/2014/main" id="{5ECA6643-06F5-8E95-E42A-8A404304D025}"/>
                </a:ext>
              </a:extLst>
            </p:cNvPr>
            <p:cNvSpPr/>
            <p:nvPr/>
          </p:nvSpPr>
          <p:spPr>
            <a:xfrm>
              <a:off x="6151739" y="1419715"/>
              <a:ext cx="2670225" cy="1025388"/>
            </a:xfrm>
            <a:prstGeom prst="round2Same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rgbClr val="B4C7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dirty="0">
                  <a:solidFill>
                    <a:schemeClr val="bg1"/>
                  </a:solidFill>
                  <a:latin typeface="Arial" panose="020B0604020202020204" pitchFamily="34" charset="0"/>
                  <a:ea typeface="+mn-lt"/>
                  <a:cs typeface="Arial" panose="020B0604020202020204" pitchFamily="34" charset="0"/>
                </a:rPr>
                <a:t>Challenges in Understanding </a:t>
              </a:r>
              <a:br>
                <a:rPr lang="en-IN" sz="1600" dirty="0">
                  <a:solidFill>
                    <a:schemeClr val="bg1"/>
                  </a:solidFill>
                  <a:latin typeface="Arial" panose="020B0604020202020204" pitchFamily="34" charset="0"/>
                  <a:ea typeface="+mn-lt"/>
                  <a:cs typeface="Arial" panose="020B0604020202020204" pitchFamily="34" charset="0"/>
                </a:rPr>
              </a:br>
              <a:r>
                <a:rPr lang="en-IN" sz="1600" b="0" i="0" dirty="0">
                  <a:solidFill>
                    <a:schemeClr val="bg1"/>
                  </a:solidFill>
                  <a:effectLst/>
                  <a:latin typeface="Arial" panose="020B0604020202020204" pitchFamily="34" charset="0"/>
                  <a:ea typeface="+mn-lt"/>
                  <a:cs typeface="Arial" panose="020B0604020202020204" pitchFamily="34" charset="0"/>
                </a:rPr>
                <a:t>RA </a:t>
              </a:r>
              <a:r>
                <a:rPr lang="en-IN" sz="1600" dirty="0">
                  <a:solidFill>
                    <a:schemeClr val="bg1"/>
                  </a:solidFill>
                  <a:latin typeface="Arial" panose="020B0604020202020204" pitchFamily="34" charset="0"/>
                  <a:ea typeface="+mn-lt"/>
                  <a:cs typeface="Arial" panose="020B0604020202020204" pitchFamily="34" charset="0"/>
                </a:rPr>
                <a:t>Flares</a:t>
              </a:r>
            </a:p>
          </p:txBody>
        </p:sp>
        <p:sp>
          <p:nvSpPr>
            <p:cNvPr id="29" name="Content Placeholder 2">
              <a:extLst>
                <a:ext uri="{FF2B5EF4-FFF2-40B4-BE49-F238E27FC236}">
                  <a16:creationId xmlns:a16="http://schemas.microsoft.com/office/drawing/2014/main" id="{5C9CEDDE-3BA7-FC91-11BB-F46F8E1340DF}"/>
                </a:ext>
              </a:extLst>
            </p:cNvPr>
            <p:cNvSpPr txBox="1">
              <a:spLocks/>
            </p:cNvSpPr>
            <p:nvPr/>
          </p:nvSpPr>
          <p:spPr>
            <a:xfrm>
              <a:off x="6275868" y="2588438"/>
              <a:ext cx="2421967" cy="1713609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sz="1400" dirty="0">
                  <a:solidFill>
                    <a:srgbClr val="0D0D0D"/>
                  </a:solidFill>
                  <a:latin typeface="Arial" panose="020B0604020202020204" pitchFamily="34" charset="0"/>
                  <a:ea typeface="+mn-lt"/>
                  <a:cs typeface="Arial" panose="020B0604020202020204" pitchFamily="34" charset="0"/>
                </a:rPr>
                <a:t>Mechanisms remain elusive despite advances</a:t>
              </a:r>
            </a:p>
            <a:p>
              <a:pPr>
                <a:lnSpc>
                  <a:spcPct val="100000"/>
                </a:lnSpc>
              </a:pPr>
              <a:r>
                <a:rPr lang="en-US" sz="1400" dirty="0">
                  <a:solidFill>
                    <a:srgbClr val="0D0D0D"/>
                  </a:solidFill>
                  <a:latin typeface="Arial" panose="020B0604020202020204" pitchFamily="34" charset="0"/>
                  <a:ea typeface="+mn-lt"/>
                  <a:cs typeface="Arial" panose="020B0604020202020204" pitchFamily="34" charset="0"/>
                </a:rPr>
                <a:t>Unpredictable nature complicates treatment planning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D04AF3B-1D67-A118-6539-8E71244C7812}"/>
              </a:ext>
            </a:extLst>
          </p:cNvPr>
          <p:cNvGrpSpPr/>
          <p:nvPr/>
        </p:nvGrpSpPr>
        <p:grpSpPr>
          <a:xfrm>
            <a:off x="4627435" y="3643731"/>
            <a:ext cx="3386378" cy="2311928"/>
            <a:chOff x="8933440" y="1419715"/>
            <a:chExt cx="2670225" cy="3247593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EABC4CF2-6A78-3749-7010-C779AF2962A5}"/>
                </a:ext>
              </a:extLst>
            </p:cNvPr>
            <p:cNvSpPr/>
            <p:nvPr/>
          </p:nvSpPr>
          <p:spPr>
            <a:xfrm>
              <a:off x="8933440" y="1674503"/>
              <a:ext cx="2670225" cy="2992805"/>
            </a:xfrm>
            <a:prstGeom prst="roundRect">
              <a:avLst>
                <a:gd name="adj" fmla="val 7141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6" name="Rectangle: Top Corners Rounded 25">
              <a:extLst>
                <a:ext uri="{FF2B5EF4-FFF2-40B4-BE49-F238E27FC236}">
                  <a16:creationId xmlns:a16="http://schemas.microsoft.com/office/drawing/2014/main" id="{41757011-C2C8-F9C1-8EDE-44A4201E263D}"/>
                </a:ext>
              </a:extLst>
            </p:cNvPr>
            <p:cNvSpPr/>
            <p:nvPr/>
          </p:nvSpPr>
          <p:spPr>
            <a:xfrm>
              <a:off x="8933440" y="1419715"/>
              <a:ext cx="2670225" cy="1025388"/>
            </a:xfrm>
            <a:prstGeom prst="round2Same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rgbClr val="B4C7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dirty="0">
                  <a:solidFill>
                    <a:schemeClr val="bg1"/>
                  </a:solidFill>
                  <a:latin typeface="Arial" panose="020B0604020202020204" pitchFamily="34" charset="0"/>
                  <a:ea typeface="+mn-lt"/>
                  <a:cs typeface="Arial" panose="020B0604020202020204" pitchFamily="34" charset="0"/>
                </a:rPr>
                <a:t>Importance </a:t>
              </a:r>
              <a:r>
                <a:rPr lang="en-IN" sz="1600" b="0" i="0" dirty="0">
                  <a:solidFill>
                    <a:schemeClr val="bg1"/>
                  </a:solidFill>
                  <a:effectLst/>
                  <a:latin typeface="Arial" panose="020B0604020202020204" pitchFamily="34" charset="0"/>
                  <a:ea typeface="+mn-lt"/>
                  <a:cs typeface="Arial" panose="020B0604020202020204" pitchFamily="34" charset="0"/>
                </a:rPr>
                <a:t>of </a:t>
              </a:r>
              <a:r>
                <a:rPr lang="en-IN" sz="1600" dirty="0">
                  <a:solidFill>
                    <a:schemeClr val="bg1"/>
                  </a:solidFill>
                  <a:latin typeface="Arial" panose="020B0604020202020204" pitchFamily="34" charset="0"/>
                  <a:ea typeface="+mn-lt"/>
                  <a:cs typeface="Arial" panose="020B0604020202020204" pitchFamily="34" charset="0"/>
                </a:rPr>
                <a:t>Personalized Treatment Strategies</a:t>
              </a:r>
            </a:p>
          </p:txBody>
        </p:sp>
        <p:sp>
          <p:nvSpPr>
            <p:cNvPr id="30" name="Content Placeholder 2">
              <a:extLst>
                <a:ext uri="{FF2B5EF4-FFF2-40B4-BE49-F238E27FC236}">
                  <a16:creationId xmlns:a16="http://schemas.microsoft.com/office/drawing/2014/main" id="{59956A1D-FD87-C5B4-D43E-6A802287ADA6}"/>
                </a:ext>
              </a:extLst>
            </p:cNvPr>
            <p:cNvSpPr txBox="1">
              <a:spLocks/>
            </p:cNvSpPr>
            <p:nvPr/>
          </p:nvSpPr>
          <p:spPr>
            <a:xfrm>
              <a:off x="9057569" y="2588438"/>
              <a:ext cx="2421967" cy="1713609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sz="1400" dirty="0">
                  <a:solidFill>
                    <a:srgbClr val="0D0D0D"/>
                  </a:solidFill>
                  <a:latin typeface="Arial" panose="020B0604020202020204" pitchFamily="34" charset="0"/>
                  <a:ea typeface="+mn-lt"/>
                  <a:cs typeface="Arial" panose="020B0604020202020204" pitchFamily="34" charset="0"/>
                </a:rPr>
                <a:t>Tailoring treatments to individual patients</a:t>
              </a:r>
            </a:p>
            <a:p>
              <a:pPr>
                <a:lnSpc>
                  <a:spcPct val="100000"/>
                </a:lnSpc>
              </a:pPr>
              <a:r>
                <a:rPr lang="en-US" sz="1400" dirty="0">
                  <a:solidFill>
                    <a:srgbClr val="0D0D0D"/>
                  </a:solidFill>
                  <a:latin typeface="Arial" panose="020B0604020202020204" pitchFamily="34" charset="0"/>
                  <a:ea typeface="+mn-lt"/>
                  <a:cs typeface="Arial" panose="020B0604020202020204" pitchFamily="34" charset="0"/>
                </a:rPr>
                <a:t>Enhancing efficacy and minimizing side effects</a:t>
              </a:r>
            </a:p>
          </p:txBody>
        </p:sp>
      </p:grpSp>
      <p:pic>
        <p:nvPicPr>
          <p:cNvPr id="38" name="Picture 37">
            <a:extLst>
              <a:ext uri="{FF2B5EF4-FFF2-40B4-BE49-F238E27FC236}">
                <a16:creationId xmlns:a16="http://schemas.microsoft.com/office/drawing/2014/main" id="{753E0FC3-0BAF-D2EF-A708-67D6A387433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66232"/>
          <a:stretch/>
        </p:blipFill>
        <p:spPr>
          <a:xfrm>
            <a:off x="8316813" y="2334090"/>
            <a:ext cx="1700523" cy="3026871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528C4FAC-3BE3-7EB7-28D2-A14AA8DA92FA}"/>
              </a:ext>
            </a:extLst>
          </p:cNvPr>
          <p:cNvSpPr txBox="1"/>
          <p:nvPr/>
        </p:nvSpPr>
        <p:spPr>
          <a:xfrm>
            <a:off x="777976" y="6347866"/>
            <a:ext cx="1083103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b="0" i="0" strike="noStrike" dirty="0"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https://www.baptisthealth.com/-/media/images/migrated/blog-images/content-images/bh-rhuematoid-arthritis-1024x616.jpg?rev=82260ed4c7a74996b6a8a61c7d440802&amp;hash=76A94C0AC5399F885D5F4F4ED16135D4​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601C3D-A544-6067-5340-0AB3358EC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C7F80-EE1A-4CD1-A379-9B77B0EEE16D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0909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raphic 40">
            <a:extLst>
              <a:ext uri="{FF2B5EF4-FFF2-40B4-BE49-F238E27FC236}">
                <a16:creationId xmlns:a16="http://schemas.microsoft.com/office/drawing/2014/main" id="{6FF069D6-8AE6-A990-904D-A6A0EE158E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74419" y="12812"/>
            <a:ext cx="4217581" cy="1528909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351F1927-3ABB-0631-599E-D314815928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-1" y="5695634"/>
            <a:ext cx="2573080" cy="1162364"/>
          </a:xfrm>
          <a:prstGeom prst="rect">
            <a:avLst/>
          </a:prstGeom>
        </p:spPr>
      </p:pic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ECD33FBC-4DFC-70CB-2598-2AC0F0CDCD85}"/>
              </a:ext>
            </a:extLst>
          </p:cNvPr>
          <p:cNvSpPr/>
          <p:nvPr/>
        </p:nvSpPr>
        <p:spPr>
          <a:xfrm>
            <a:off x="4976352" y="1615046"/>
            <a:ext cx="6903267" cy="1074991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0CD7E6B-312C-503A-21C3-72E58F6730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2846" y="3429000"/>
            <a:ext cx="3442156" cy="213377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68300B2B-9DD7-FEBE-2908-339A268E98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7976" y="411651"/>
            <a:ext cx="530548" cy="709148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0BD35F9-F8A7-DAFF-D035-3B100F5F0D50}"/>
              </a:ext>
            </a:extLst>
          </p:cNvPr>
          <p:cNvSpPr/>
          <p:nvPr/>
        </p:nvSpPr>
        <p:spPr>
          <a:xfrm>
            <a:off x="1010407" y="1615046"/>
            <a:ext cx="6903267" cy="107499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1329A0-11AA-74AB-BBBC-45812F7B189E}"/>
              </a:ext>
            </a:extLst>
          </p:cNvPr>
          <p:cNvSpPr txBox="1"/>
          <p:nvPr/>
        </p:nvSpPr>
        <p:spPr>
          <a:xfrm>
            <a:off x="1151677" y="1790988"/>
            <a:ext cx="1974606" cy="723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Overview of </a:t>
            </a:r>
            <a:r>
              <a:rPr lang="en-IN" sz="16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Bioflare</a:t>
            </a:r>
            <a:r>
              <a:rPr lang="en-I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Project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A2C286-8F2E-5F2B-F336-C5FBCE94CBE2}"/>
              </a:ext>
            </a:extLst>
          </p:cNvPr>
          <p:cNvSpPr txBox="1"/>
          <p:nvPr/>
        </p:nvSpPr>
        <p:spPr>
          <a:xfrm>
            <a:off x="3290787" y="1695842"/>
            <a:ext cx="4609207" cy="913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6-month observational study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Collaboration between Newcastle University, University of Birmingham, and University of Glasgow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2520630-8700-DB73-F793-7C47AFD3146B}"/>
              </a:ext>
            </a:extLst>
          </p:cNvPr>
          <p:cNvSpPr/>
          <p:nvPr/>
        </p:nvSpPr>
        <p:spPr>
          <a:xfrm>
            <a:off x="1010407" y="2775936"/>
            <a:ext cx="6903267" cy="107499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0EAD2A4-6A55-DED2-5514-637E7764F050}"/>
              </a:ext>
            </a:extLst>
          </p:cNvPr>
          <p:cNvSpPr txBox="1"/>
          <p:nvPr/>
        </p:nvSpPr>
        <p:spPr>
          <a:xfrm>
            <a:off x="1151677" y="3104111"/>
            <a:ext cx="1974606" cy="418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Research Focus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DB8FBA-06E3-8A41-76B0-ED5F6E95A3F1}"/>
              </a:ext>
            </a:extLst>
          </p:cNvPr>
          <p:cNvSpPr txBox="1"/>
          <p:nvPr/>
        </p:nvSpPr>
        <p:spPr>
          <a:xfrm>
            <a:off x="3290787" y="2989936"/>
            <a:ext cx="3907458" cy="646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Addressing the lack of understanding in the pathogenesis of RA flares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7DA9047-2F7E-0D44-81C0-A4340C14255A}"/>
              </a:ext>
            </a:extLst>
          </p:cNvPr>
          <p:cNvSpPr/>
          <p:nvPr/>
        </p:nvSpPr>
        <p:spPr>
          <a:xfrm>
            <a:off x="1010407" y="3936826"/>
            <a:ext cx="6903267" cy="107499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8682A33-982C-F11A-96E7-3FF628674FE8}"/>
              </a:ext>
            </a:extLst>
          </p:cNvPr>
          <p:cNvSpPr txBox="1"/>
          <p:nvPr/>
        </p:nvSpPr>
        <p:spPr>
          <a:xfrm>
            <a:off x="1151677" y="4112768"/>
            <a:ext cx="1974606" cy="723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Utilizing Advanced Techniques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D642F96-0040-103B-139D-EAFC350D6D11}"/>
              </a:ext>
            </a:extLst>
          </p:cNvPr>
          <p:cNvSpPr txBox="1"/>
          <p:nvPr/>
        </p:nvSpPr>
        <p:spPr>
          <a:xfrm>
            <a:off x="3290787" y="4150826"/>
            <a:ext cx="3907458" cy="646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Emphasis on flow cytometry for studying immune cell populations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71B838B-6867-C476-98F7-6E50A93BDB6B}"/>
              </a:ext>
            </a:extLst>
          </p:cNvPr>
          <p:cNvSpPr/>
          <p:nvPr/>
        </p:nvSpPr>
        <p:spPr>
          <a:xfrm>
            <a:off x="1010407" y="5097715"/>
            <a:ext cx="6903267" cy="107499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569ED91-A811-7C8A-C9AC-101B9887E33F}"/>
              </a:ext>
            </a:extLst>
          </p:cNvPr>
          <p:cNvSpPr txBox="1"/>
          <p:nvPr/>
        </p:nvSpPr>
        <p:spPr>
          <a:xfrm>
            <a:off x="1151677" y="5273657"/>
            <a:ext cx="1974606" cy="723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Challenges and Solutions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CEAA0D4-643A-23BA-B1AA-CE6A85F9E98E}"/>
              </a:ext>
            </a:extLst>
          </p:cNvPr>
          <p:cNvSpPr txBox="1"/>
          <p:nvPr/>
        </p:nvSpPr>
        <p:spPr>
          <a:xfrm>
            <a:off x="3290787" y="5178511"/>
            <a:ext cx="3907458" cy="913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Manual analysis limitations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Introduction of automated methods like OPTICS for improved analysis efficiency</a:t>
            </a:r>
          </a:p>
        </p:txBody>
      </p:sp>
      <p:sp>
        <p:nvSpPr>
          <p:cNvPr id="11" name="Rectangle: Top Corners Rounded 10">
            <a:extLst>
              <a:ext uri="{FF2B5EF4-FFF2-40B4-BE49-F238E27FC236}">
                <a16:creationId xmlns:a16="http://schemas.microsoft.com/office/drawing/2014/main" id="{ABF5684A-01E2-3F5F-8BDB-17FBA6635269}"/>
              </a:ext>
            </a:extLst>
          </p:cNvPr>
          <p:cNvSpPr/>
          <p:nvPr/>
        </p:nvSpPr>
        <p:spPr>
          <a:xfrm rot="16200000">
            <a:off x="6488365" y="-4649291"/>
            <a:ext cx="576238" cy="10831033"/>
          </a:xfrm>
          <a:prstGeom prst="round2Same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9637327-6281-0679-87AC-EEEC5DA50D8F}"/>
              </a:ext>
            </a:extLst>
          </p:cNvPr>
          <p:cNvSpPr txBox="1">
            <a:spLocks/>
          </p:cNvSpPr>
          <p:nvPr/>
        </p:nvSpPr>
        <p:spPr>
          <a:xfrm>
            <a:off x="1639006" y="560700"/>
            <a:ext cx="10102702" cy="4535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Background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043D54-2EA9-30E2-8DC7-B4428C8201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77655" y="1789258"/>
            <a:ext cx="771909" cy="2744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C22BC3-8A70-E356-52E4-DB896D177F4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11664" y="1762843"/>
            <a:ext cx="1321873" cy="3272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7CAD401-DBDC-329B-FE07-708BA11C505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77655" y="2240822"/>
            <a:ext cx="1020807" cy="3411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EE1CB8-F54E-EB01-249E-BAD0D5CFFE4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07707" y="2215879"/>
            <a:ext cx="784621" cy="3910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F56920-6676-5E2B-B473-6B987690493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95638" y="1741869"/>
            <a:ext cx="771909" cy="369224"/>
          </a:xfrm>
          <a:prstGeom prst="rect">
            <a:avLst/>
          </a:prstGeom>
        </p:spPr>
      </p:pic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D4C287A-460E-3FC6-43C5-B7CDD4371007}"/>
              </a:ext>
            </a:extLst>
          </p:cNvPr>
          <p:cNvCxnSpPr>
            <a:cxnSpLocks/>
          </p:cNvCxnSpPr>
          <p:nvPr/>
        </p:nvCxnSpPr>
        <p:spPr>
          <a:xfrm>
            <a:off x="3041222" y="1766428"/>
            <a:ext cx="0" cy="772226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83D360F-0F39-9066-40F4-0D60472C6F49}"/>
              </a:ext>
            </a:extLst>
          </p:cNvPr>
          <p:cNvCxnSpPr>
            <a:cxnSpLocks/>
          </p:cNvCxnSpPr>
          <p:nvPr/>
        </p:nvCxnSpPr>
        <p:spPr>
          <a:xfrm>
            <a:off x="3041222" y="2927318"/>
            <a:ext cx="0" cy="772226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7505C88-0202-625F-7318-9FDEF8A25813}"/>
              </a:ext>
            </a:extLst>
          </p:cNvPr>
          <p:cNvCxnSpPr>
            <a:cxnSpLocks/>
          </p:cNvCxnSpPr>
          <p:nvPr/>
        </p:nvCxnSpPr>
        <p:spPr>
          <a:xfrm>
            <a:off x="3041222" y="4088208"/>
            <a:ext cx="0" cy="772226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81EE23A-E316-4B32-7A42-A00D26A2BC9C}"/>
              </a:ext>
            </a:extLst>
          </p:cNvPr>
          <p:cNvCxnSpPr>
            <a:cxnSpLocks/>
          </p:cNvCxnSpPr>
          <p:nvPr/>
        </p:nvCxnSpPr>
        <p:spPr>
          <a:xfrm>
            <a:off x="3041222" y="5249097"/>
            <a:ext cx="0" cy="772226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26A65371-5A28-7B86-54FE-18E3F40F647E}"/>
              </a:ext>
            </a:extLst>
          </p:cNvPr>
          <p:cNvSpPr txBox="1"/>
          <p:nvPr/>
        </p:nvSpPr>
        <p:spPr>
          <a:xfrm>
            <a:off x="777976" y="6347866"/>
            <a:ext cx="1083103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b="0" i="0" strike="noStrike" dirty="0"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https://jaxmecfs.files.wordpress.com/2018/01/flow_figure.png​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E1E30E-ED1A-9844-E96A-D3A4755799F2}"/>
              </a:ext>
            </a:extLst>
          </p:cNvPr>
          <p:cNvSpPr txBox="1"/>
          <p:nvPr/>
        </p:nvSpPr>
        <p:spPr>
          <a:xfrm>
            <a:off x="9314541" y="5615033"/>
            <a:ext cx="19555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Flow Cytometry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677DD6D4-E145-4B41-089A-E3F8DE90E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C7F80-EE1A-4CD1-A379-9B77B0EEE16D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2198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1D16BAC9-7596-B780-EC47-74CDD3D0D0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74419" y="12812"/>
            <a:ext cx="4217581" cy="1528909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77C0480D-B6A5-B844-B026-3941D93313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-1" y="5695634"/>
            <a:ext cx="2573080" cy="11623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B9CFD2B-C2CB-BD61-C29C-B41262D1AE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7143" y="1831711"/>
            <a:ext cx="5393589" cy="383544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743DB06F-706B-8BD3-629F-272569D1BF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7976" y="411651"/>
            <a:ext cx="530548" cy="709148"/>
          </a:xfrm>
          <a:prstGeom prst="rect">
            <a:avLst/>
          </a:prstGeom>
        </p:spPr>
      </p:pic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80373AAD-179F-C2EE-ECAA-0E00496628D6}"/>
              </a:ext>
            </a:extLst>
          </p:cNvPr>
          <p:cNvSpPr/>
          <p:nvPr/>
        </p:nvSpPr>
        <p:spPr>
          <a:xfrm rot="16200000">
            <a:off x="6488365" y="-4649291"/>
            <a:ext cx="576238" cy="10831033"/>
          </a:xfrm>
          <a:prstGeom prst="round2Same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A3F9CE8-9E1A-1525-1606-C6056E973A99}"/>
              </a:ext>
            </a:extLst>
          </p:cNvPr>
          <p:cNvSpPr txBox="1">
            <a:spLocks/>
          </p:cNvSpPr>
          <p:nvPr/>
        </p:nvSpPr>
        <p:spPr>
          <a:xfrm>
            <a:off x="1639006" y="560700"/>
            <a:ext cx="10102702" cy="4535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Research Question</a:t>
            </a:r>
            <a:endParaRPr lang="en-IN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46CC9B6-6ADC-737E-0546-3D5C69991EE3}"/>
              </a:ext>
            </a:extLst>
          </p:cNvPr>
          <p:cNvSpPr/>
          <p:nvPr/>
        </p:nvSpPr>
        <p:spPr>
          <a:xfrm>
            <a:off x="1014338" y="1729484"/>
            <a:ext cx="4720158" cy="187550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B4C7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Which subsets of biomarkers predict RA flares?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6221353-AF0B-162D-8383-D8F15F2BDF74}"/>
              </a:ext>
            </a:extLst>
          </p:cNvPr>
          <p:cNvSpPr/>
          <p:nvPr/>
        </p:nvSpPr>
        <p:spPr>
          <a:xfrm>
            <a:off x="1014338" y="3866075"/>
            <a:ext cx="4720158" cy="187550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B4C7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Tailoring treatments with biomarker subsets enhances efficacy, controls disease, and minimizes side effects, while gaining flare pathogenesis insights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D04517-D151-A000-AC4C-C142D3D79590}"/>
              </a:ext>
            </a:extLst>
          </p:cNvPr>
          <p:cNvSpPr txBox="1"/>
          <p:nvPr/>
        </p:nvSpPr>
        <p:spPr>
          <a:xfrm>
            <a:off x="777976" y="6347866"/>
            <a:ext cx="1083103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b="0" i="0" strike="noStrike" dirty="0"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https://www.proxzar.ai/wp-content/uploads/2019/11/Biomarker.png​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FB5F53-1F99-0EBD-7E26-CECD0738A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C7F80-EE1A-4CD1-A379-9B77B0EEE16D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63487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Oval 37">
            <a:extLst>
              <a:ext uri="{FF2B5EF4-FFF2-40B4-BE49-F238E27FC236}">
                <a16:creationId xmlns:a16="http://schemas.microsoft.com/office/drawing/2014/main" id="{89BB3A7B-377F-7AB3-7578-1B3B4B591D06}"/>
              </a:ext>
            </a:extLst>
          </p:cNvPr>
          <p:cNvSpPr/>
          <p:nvPr/>
        </p:nvSpPr>
        <p:spPr>
          <a:xfrm>
            <a:off x="8761648" y="1930330"/>
            <a:ext cx="1818168" cy="1544825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4BEE800-750C-1775-7B0B-4291E85B60E2}"/>
              </a:ext>
            </a:extLst>
          </p:cNvPr>
          <p:cNvSpPr/>
          <p:nvPr/>
        </p:nvSpPr>
        <p:spPr>
          <a:xfrm>
            <a:off x="5274170" y="1930330"/>
            <a:ext cx="1818168" cy="1544825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0FC742EE-1E43-A306-C661-08E63DACE732}"/>
              </a:ext>
            </a:extLst>
          </p:cNvPr>
          <p:cNvSpPr/>
          <p:nvPr/>
        </p:nvSpPr>
        <p:spPr>
          <a:xfrm>
            <a:off x="1786690" y="1930330"/>
            <a:ext cx="1818168" cy="1544825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1" name="Picture 30" descr="Possible Role For Newly Discovered Immune Cell Population in MS |  Technology Networks">
            <a:extLst>
              <a:ext uri="{FF2B5EF4-FFF2-40B4-BE49-F238E27FC236}">
                <a16:creationId xmlns:a16="http://schemas.microsoft.com/office/drawing/2014/main" id="{EAE41ED8-FA36-0217-83F6-ACFC193064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75" r="21875"/>
          <a:stretch/>
        </p:blipFill>
        <p:spPr bwMode="auto">
          <a:xfrm>
            <a:off x="2085795" y="1478366"/>
            <a:ext cx="1367972" cy="1367972"/>
          </a:xfrm>
          <a:custGeom>
            <a:avLst/>
            <a:gdLst>
              <a:gd name="connsiteX0" fmla="*/ 683986 w 1367972"/>
              <a:gd name="connsiteY0" fmla="*/ 0 h 1367972"/>
              <a:gd name="connsiteX1" fmla="*/ 1367972 w 1367972"/>
              <a:gd name="connsiteY1" fmla="*/ 683986 h 1367972"/>
              <a:gd name="connsiteX2" fmla="*/ 683986 w 1367972"/>
              <a:gd name="connsiteY2" fmla="*/ 1367972 h 1367972"/>
              <a:gd name="connsiteX3" fmla="*/ 0 w 1367972"/>
              <a:gd name="connsiteY3" fmla="*/ 683986 h 1367972"/>
              <a:gd name="connsiteX4" fmla="*/ 683986 w 1367972"/>
              <a:gd name="connsiteY4" fmla="*/ 0 h 1367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67972" h="1367972">
                <a:moveTo>
                  <a:pt x="683986" y="0"/>
                </a:moveTo>
                <a:cubicBezTo>
                  <a:pt x="1061741" y="0"/>
                  <a:pt x="1367972" y="306231"/>
                  <a:pt x="1367972" y="683986"/>
                </a:cubicBezTo>
                <a:cubicBezTo>
                  <a:pt x="1367972" y="1061741"/>
                  <a:pt x="1061741" y="1367972"/>
                  <a:pt x="683986" y="1367972"/>
                </a:cubicBezTo>
                <a:cubicBezTo>
                  <a:pt x="306231" y="1367972"/>
                  <a:pt x="0" y="1061741"/>
                  <a:pt x="0" y="683986"/>
                </a:cubicBezTo>
                <a:cubicBezTo>
                  <a:pt x="0" y="306231"/>
                  <a:pt x="306231" y="0"/>
                  <a:pt x="683986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2E39AF7E-CE11-FFCA-8A3F-70F85A4771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74419" y="12812"/>
            <a:ext cx="4217581" cy="1528909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D0EBA2DD-EE1E-00F4-D3B7-D9F726288E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 flipV="1">
            <a:off x="-1" y="5695634"/>
            <a:ext cx="2573080" cy="1162364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82080829-E523-9A56-54D9-39A42D56AD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7976" y="411651"/>
            <a:ext cx="530548" cy="709148"/>
          </a:xfrm>
          <a:prstGeom prst="rect">
            <a:avLst/>
          </a:prstGeom>
        </p:spPr>
      </p:pic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9915FBB0-D616-9661-0A56-B3BAD51B52FE}"/>
              </a:ext>
            </a:extLst>
          </p:cNvPr>
          <p:cNvSpPr/>
          <p:nvPr/>
        </p:nvSpPr>
        <p:spPr>
          <a:xfrm rot="16200000">
            <a:off x="6488365" y="-4649291"/>
            <a:ext cx="576238" cy="10831033"/>
          </a:xfrm>
          <a:prstGeom prst="round2Same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5BDD144-38CF-F4AF-D8DC-792793865FBA}"/>
              </a:ext>
            </a:extLst>
          </p:cNvPr>
          <p:cNvSpPr txBox="1">
            <a:spLocks/>
          </p:cNvSpPr>
          <p:nvPr/>
        </p:nvSpPr>
        <p:spPr>
          <a:xfrm>
            <a:off x="1639006" y="560700"/>
            <a:ext cx="10102702" cy="4535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  <a:endParaRPr lang="en-IN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5C2C12FA-DF42-9909-A9FE-B50B0DA0FE8B}"/>
              </a:ext>
            </a:extLst>
          </p:cNvPr>
          <p:cNvSpPr/>
          <p:nvPr/>
        </p:nvSpPr>
        <p:spPr>
          <a:xfrm>
            <a:off x="1158949" y="2927085"/>
            <a:ext cx="3221665" cy="791064"/>
          </a:xfrm>
          <a:prstGeom prst="chevron">
            <a:avLst>
              <a:gd name="adj" fmla="val 31395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Assessing Immune Cell Populations​</a:t>
            </a:r>
          </a:p>
        </p:txBody>
      </p:sp>
      <p:sp>
        <p:nvSpPr>
          <p:cNvPr id="16" name="Arrow: Chevron 15">
            <a:extLst>
              <a:ext uri="{FF2B5EF4-FFF2-40B4-BE49-F238E27FC236}">
                <a16:creationId xmlns:a16="http://schemas.microsoft.com/office/drawing/2014/main" id="{71956A87-D83B-A953-FCAF-BCBE9DF40DCC}"/>
              </a:ext>
            </a:extLst>
          </p:cNvPr>
          <p:cNvSpPr/>
          <p:nvPr/>
        </p:nvSpPr>
        <p:spPr>
          <a:xfrm>
            <a:off x="4561368" y="2927085"/>
            <a:ext cx="3391786" cy="791064"/>
          </a:xfrm>
          <a:prstGeom prst="chevron">
            <a:avLst>
              <a:gd name="adj" fmla="val 31395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Identifying Distinct Subsets of RA Patients​</a:t>
            </a:r>
            <a:endParaRPr lang="en-IN" sz="16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</p:txBody>
      </p:sp>
      <p:sp>
        <p:nvSpPr>
          <p:cNvPr id="18" name="Arrow: Chevron 17">
            <a:extLst>
              <a:ext uri="{FF2B5EF4-FFF2-40B4-BE49-F238E27FC236}">
                <a16:creationId xmlns:a16="http://schemas.microsoft.com/office/drawing/2014/main" id="{4A0E3D06-8952-75A2-DE36-B5B9866D191B}"/>
              </a:ext>
            </a:extLst>
          </p:cNvPr>
          <p:cNvSpPr/>
          <p:nvPr/>
        </p:nvSpPr>
        <p:spPr>
          <a:xfrm>
            <a:off x="8133907" y="2927085"/>
            <a:ext cx="3221665" cy="791064"/>
          </a:xfrm>
          <a:prstGeom prst="chevron">
            <a:avLst>
              <a:gd name="adj" fmla="val 23032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Comparing Immune Cell Profiles between Flare and Remission States​</a:t>
            </a:r>
            <a:endParaRPr lang="en-IN" sz="16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85AA18C-30FA-5CE3-618B-C0982AF2B181}"/>
              </a:ext>
            </a:extLst>
          </p:cNvPr>
          <p:cNvSpPr txBox="1"/>
          <p:nvPr/>
        </p:nvSpPr>
        <p:spPr>
          <a:xfrm>
            <a:off x="1394664" y="3892585"/>
            <a:ext cx="267760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Measure the similarity or dissimilarity between immune cell populations ​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Utilize distance metrics to quantify differences in immune cell profiles.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2BD59A1-4AE7-27B3-10BD-01EDB18D0260}"/>
              </a:ext>
            </a:extLst>
          </p:cNvPr>
          <p:cNvSpPr txBox="1"/>
          <p:nvPr/>
        </p:nvSpPr>
        <p:spPr>
          <a:xfrm>
            <a:off x="4882143" y="3892585"/>
            <a:ext cx="267760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>
              <a:buFont typeface="Arial" panose="020B0604020202020204" pitchFamily="34" charset="0"/>
              <a:buChar char="•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1600" dirty="0"/>
              <a:t>Utilizing Clustering to Distinguish Flare and Non-Flare RA Groups​</a:t>
            </a:r>
          </a:p>
          <a:p>
            <a:r>
              <a:rPr lang="en-US" sz="1600" dirty="0"/>
              <a:t>Examining Immune Cell Variations for RA Subgroup Identification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27EE59E-85D7-98A8-BB67-E9F490A036C4}"/>
              </a:ext>
            </a:extLst>
          </p:cNvPr>
          <p:cNvSpPr txBox="1"/>
          <p:nvPr/>
        </p:nvSpPr>
        <p:spPr>
          <a:xfrm>
            <a:off x="8405936" y="3892585"/>
            <a:ext cx="267760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>
              <a:buFont typeface="Arial" panose="020B0604020202020204" pitchFamily="34" charset="0"/>
              <a:buChar char="•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1600" dirty="0"/>
              <a:t>Compare immune profiles of RA patients in flare vs. remission​</a:t>
            </a:r>
          </a:p>
          <a:p>
            <a:r>
              <a:rPr lang="en-US" sz="1600" dirty="0"/>
              <a:t>Identify significant biomarkers between RA flare and remission​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540BB5CD-E544-7C90-9A1F-001A574696AB}"/>
              </a:ext>
            </a:extLst>
          </p:cNvPr>
          <p:cNvSpPr/>
          <p:nvPr/>
        </p:nvSpPr>
        <p:spPr>
          <a:xfrm>
            <a:off x="1158949" y="5887101"/>
            <a:ext cx="3221665" cy="45719"/>
          </a:xfrm>
          <a:prstGeom prst="roundRect">
            <a:avLst>
              <a:gd name="adj" fmla="val 379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7AC67F1-8D20-AEF3-BC4A-EC1D639E597B}"/>
              </a:ext>
            </a:extLst>
          </p:cNvPr>
          <p:cNvSpPr/>
          <p:nvPr/>
        </p:nvSpPr>
        <p:spPr>
          <a:xfrm>
            <a:off x="4646428" y="5887101"/>
            <a:ext cx="3221665" cy="45719"/>
          </a:xfrm>
          <a:prstGeom prst="roundRect">
            <a:avLst>
              <a:gd name="adj" fmla="val 379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0BA2CA3-F2FD-307D-6DA7-5A677BB890E0}"/>
              </a:ext>
            </a:extLst>
          </p:cNvPr>
          <p:cNvSpPr/>
          <p:nvPr/>
        </p:nvSpPr>
        <p:spPr>
          <a:xfrm>
            <a:off x="8133907" y="5887101"/>
            <a:ext cx="3221665" cy="45719"/>
          </a:xfrm>
          <a:prstGeom prst="roundRect">
            <a:avLst>
              <a:gd name="adj" fmla="val 379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pic>
        <p:nvPicPr>
          <p:cNvPr id="36" name="Picture 35" descr="Why Is Patient-Centered Care Important?">
            <a:extLst>
              <a:ext uri="{FF2B5EF4-FFF2-40B4-BE49-F238E27FC236}">
                <a16:creationId xmlns:a16="http://schemas.microsoft.com/office/drawing/2014/main" id="{FDE483CC-9DE1-401E-BB62-1FD65F9893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87" t="1265" r="17668" b="26868"/>
          <a:stretch>
            <a:fillRect/>
          </a:stretch>
        </p:blipFill>
        <p:spPr bwMode="auto">
          <a:xfrm>
            <a:off x="5596690" y="1501781"/>
            <a:ext cx="1321142" cy="1321142"/>
          </a:xfrm>
          <a:custGeom>
            <a:avLst/>
            <a:gdLst>
              <a:gd name="connsiteX0" fmla="*/ 731874 w 1463748"/>
              <a:gd name="connsiteY0" fmla="*/ 0 h 1463748"/>
              <a:gd name="connsiteX1" fmla="*/ 1463748 w 1463748"/>
              <a:gd name="connsiteY1" fmla="*/ 731874 h 1463748"/>
              <a:gd name="connsiteX2" fmla="*/ 731874 w 1463748"/>
              <a:gd name="connsiteY2" fmla="*/ 1463748 h 1463748"/>
              <a:gd name="connsiteX3" fmla="*/ 0 w 1463748"/>
              <a:gd name="connsiteY3" fmla="*/ 731874 h 1463748"/>
              <a:gd name="connsiteX4" fmla="*/ 731874 w 1463748"/>
              <a:gd name="connsiteY4" fmla="*/ 0 h 1463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63748" h="1463748">
                <a:moveTo>
                  <a:pt x="731874" y="0"/>
                </a:moveTo>
                <a:cubicBezTo>
                  <a:pt x="1136077" y="0"/>
                  <a:pt x="1463748" y="327671"/>
                  <a:pt x="1463748" y="731874"/>
                </a:cubicBezTo>
                <a:cubicBezTo>
                  <a:pt x="1463748" y="1136077"/>
                  <a:pt x="1136077" y="1463748"/>
                  <a:pt x="731874" y="1463748"/>
                </a:cubicBezTo>
                <a:cubicBezTo>
                  <a:pt x="327671" y="1463748"/>
                  <a:pt x="0" y="1136077"/>
                  <a:pt x="0" y="731874"/>
                </a:cubicBezTo>
                <a:cubicBezTo>
                  <a:pt x="0" y="327671"/>
                  <a:pt x="327671" y="0"/>
                  <a:pt x="73187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AAAFFCF4-6692-1169-58A1-0F397245DB74}"/>
              </a:ext>
            </a:extLst>
          </p:cNvPr>
          <p:cNvSpPr txBox="1"/>
          <p:nvPr/>
        </p:nvSpPr>
        <p:spPr>
          <a:xfrm>
            <a:off x="777976" y="6185941"/>
            <a:ext cx="108310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https://www.technologynetworks.com/immunology/news/possible-role-for-newly-discovered-immune-cell-population-in-ms-341971</a:t>
            </a:r>
            <a:br>
              <a:rPr lang="en-IN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https://www.usfhealthonline.com/resources/health-informatics/why-is-patient-centered-care-important/</a:t>
            </a:r>
            <a:br>
              <a:rPr lang="en-IN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https://naturenews.africa/habits-that-negatively-affect-the-immune-system/</a:t>
            </a:r>
          </a:p>
        </p:txBody>
      </p:sp>
      <p:pic>
        <p:nvPicPr>
          <p:cNvPr id="42" name="Picture 41" descr="Habits that negatively affect the immune system - Naturenews.africa">
            <a:extLst>
              <a:ext uri="{FF2B5EF4-FFF2-40B4-BE49-F238E27FC236}">
                <a16:creationId xmlns:a16="http://schemas.microsoft.com/office/drawing/2014/main" id="{63000FDE-19F2-7EE2-5A4F-33E495D05D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1" r="15049"/>
          <a:stretch/>
        </p:blipFill>
        <p:spPr bwMode="auto">
          <a:xfrm>
            <a:off x="9084168" y="1501781"/>
            <a:ext cx="1321142" cy="1321142"/>
          </a:xfrm>
          <a:custGeom>
            <a:avLst/>
            <a:gdLst>
              <a:gd name="connsiteX0" fmla="*/ 660571 w 1321142"/>
              <a:gd name="connsiteY0" fmla="*/ 0 h 1321142"/>
              <a:gd name="connsiteX1" fmla="*/ 1321142 w 1321142"/>
              <a:gd name="connsiteY1" fmla="*/ 660571 h 1321142"/>
              <a:gd name="connsiteX2" fmla="*/ 660571 w 1321142"/>
              <a:gd name="connsiteY2" fmla="*/ 1321142 h 1321142"/>
              <a:gd name="connsiteX3" fmla="*/ 0 w 1321142"/>
              <a:gd name="connsiteY3" fmla="*/ 660571 h 1321142"/>
              <a:gd name="connsiteX4" fmla="*/ 660571 w 1321142"/>
              <a:gd name="connsiteY4" fmla="*/ 0 h 1321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1142" h="1321142">
                <a:moveTo>
                  <a:pt x="660571" y="0"/>
                </a:moveTo>
                <a:cubicBezTo>
                  <a:pt x="1025394" y="0"/>
                  <a:pt x="1321142" y="295748"/>
                  <a:pt x="1321142" y="660571"/>
                </a:cubicBezTo>
                <a:cubicBezTo>
                  <a:pt x="1321142" y="1025394"/>
                  <a:pt x="1025394" y="1321142"/>
                  <a:pt x="660571" y="1321142"/>
                </a:cubicBezTo>
                <a:cubicBezTo>
                  <a:pt x="295748" y="1321142"/>
                  <a:pt x="0" y="1025394"/>
                  <a:pt x="0" y="660571"/>
                </a:cubicBezTo>
                <a:cubicBezTo>
                  <a:pt x="0" y="295748"/>
                  <a:pt x="295748" y="0"/>
                  <a:pt x="660571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C56B193-DFC4-F2EB-FD00-61510C4C4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C7F80-EE1A-4CD1-A379-9B77B0EEE16D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4777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C036151-5D17-D632-9A41-8E959C85C1F5}"/>
              </a:ext>
            </a:extLst>
          </p:cNvPr>
          <p:cNvCxnSpPr>
            <a:cxnSpLocks/>
          </p:cNvCxnSpPr>
          <p:nvPr/>
        </p:nvCxnSpPr>
        <p:spPr>
          <a:xfrm>
            <a:off x="1308524" y="5097825"/>
            <a:ext cx="9601851" cy="0"/>
          </a:xfrm>
          <a:prstGeom prst="line">
            <a:avLst/>
          </a:prstGeom>
          <a:ln w="15875">
            <a:solidFill>
              <a:schemeClr val="accent1"/>
            </a:solidFill>
            <a:prstDash val="sysDot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Graphic 26">
            <a:extLst>
              <a:ext uri="{FF2B5EF4-FFF2-40B4-BE49-F238E27FC236}">
                <a16:creationId xmlns:a16="http://schemas.microsoft.com/office/drawing/2014/main" id="{DD071961-758E-5625-FFE8-FE942F823C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74419" y="12812"/>
            <a:ext cx="4217581" cy="1528909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884B9906-F4C7-C931-DADA-BA52327197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-1" y="5695634"/>
            <a:ext cx="2573080" cy="1162364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F27E24DF-C9BE-AC0D-172B-4CF46E7B29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7976" y="411651"/>
            <a:ext cx="530548" cy="709148"/>
          </a:xfrm>
          <a:prstGeom prst="rect">
            <a:avLst/>
          </a:prstGeom>
        </p:spPr>
      </p:pic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316D9BD9-E904-B3C0-4569-505BEB1E2381}"/>
              </a:ext>
            </a:extLst>
          </p:cNvPr>
          <p:cNvSpPr/>
          <p:nvPr/>
        </p:nvSpPr>
        <p:spPr>
          <a:xfrm rot="16200000">
            <a:off x="6488365" y="-4649291"/>
            <a:ext cx="576238" cy="10831033"/>
          </a:xfrm>
          <a:prstGeom prst="round2Same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752CC8C-CBFD-4303-66D2-95BA68945842}"/>
              </a:ext>
            </a:extLst>
          </p:cNvPr>
          <p:cNvSpPr txBox="1">
            <a:spLocks/>
          </p:cNvSpPr>
          <p:nvPr/>
        </p:nvSpPr>
        <p:spPr>
          <a:xfrm>
            <a:off x="1639006" y="560700"/>
            <a:ext cx="10102702" cy="4535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  <a:endParaRPr lang="en-IN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Arrow: Chevron 15">
            <a:extLst>
              <a:ext uri="{FF2B5EF4-FFF2-40B4-BE49-F238E27FC236}">
                <a16:creationId xmlns:a16="http://schemas.microsoft.com/office/drawing/2014/main" id="{E43983DD-0C84-05DB-A73C-8910AD0E0AF3}"/>
              </a:ext>
            </a:extLst>
          </p:cNvPr>
          <p:cNvSpPr/>
          <p:nvPr/>
        </p:nvSpPr>
        <p:spPr>
          <a:xfrm>
            <a:off x="4326392" y="2210622"/>
            <a:ext cx="339703" cy="345495"/>
          </a:xfrm>
          <a:prstGeom prst="chevron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7" name="Arrow: Chevron 16">
            <a:extLst>
              <a:ext uri="{FF2B5EF4-FFF2-40B4-BE49-F238E27FC236}">
                <a16:creationId xmlns:a16="http://schemas.microsoft.com/office/drawing/2014/main" id="{A99703E0-E787-7C1C-C564-421E88C55BFA}"/>
              </a:ext>
            </a:extLst>
          </p:cNvPr>
          <p:cNvSpPr/>
          <p:nvPr/>
        </p:nvSpPr>
        <p:spPr>
          <a:xfrm>
            <a:off x="7541037" y="2210622"/>
            <a:ext cx="339703" cy="345495"/>
          </a:xfrm>
          <a:prstGeom prst="chevron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7D2717F-F299-045C-F31D-313F87DFFC88}"/>
              </a:ext>
            </a:extLst>
          </p:cNvPr>
          <p:cNvCxnSpPr>
            <a:cxnSpLocks/>
          </p:cNvCxnSpPr>
          <p:nvPr/>
        </p:nvCxnSpPr>
        <p:spPr>
          <a:xfrm>
            <a:off x="4496243" y="2840977"/>
            <a:ext cx="0" cy="1559573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  <a:prstDash val="sysDot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AF3D0BE-AC08-CBEF-73B2-D54D3FBDDAC2}"/>
              </a:ext>
            </a:extLst>
          </p:cNvPr>
          <p:cNvCxnSpPr>
            <a:cxnSpLocks/>
          </p:cNvCxnSpPr>
          <p:nvPr/>
        </p:nvCxnSpPr>
        <p:spPr>
          <a:xfrm>
            <a:off x="7710888" y="2840977"/>
            <a:ext cx="0" cy="1559573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  <a:prstDash val="sysDot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: Diagonal Corners Rounded 8">
            <a:extLst>
              <a:ext uri="{FF2B5EF4-FFF2-40B4-BE49-F238E27FC236}">
                <a16:creationId xmlns:a16="http://schemas.microsoft.com/office/drawing/2014/main" id="{E08D64CB-D6DD-A17E-457C-760216B8F903}"/>
              </a:ext>
            </a:extLst>
          </p:cNvPr>
          <p:cNvSpPr/>
          <p:nvPr/>
        </p:nvSpPr>
        <p:spPr>
          <a:xfrm>
            <a:off x="1702303" y="1624315"/>
            <a:ext cx="2468727" cy="1216662"/>
          </a:xfrm>
          <a:prstGeom prst="round2Diag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Data Transformation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CDEBC0-1819-8762-8D83-2655B202E0A0}"/>
              </a:ext>
            </a:extLst>
          </p:cNvPr>
          <p:cNvSpPr/>
          <p:nvPr/>
        </p:nvSpPr>
        <p:spPr>
          <a:xfrm>
            <a:off x="1779758" y="3096200"/>
            <a:ext cx="2313816" cy="9468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Preprocessing flow cytometry data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3C9AA9A-8F29-C597-0E6B-C2C9833DC4D9}"/>
              </a:ext>
            </a:extLst>
          </p:cNvPr>
          <p:cNvGrpSpPr/>
          <p:nvPr/>
        </p:nvGrpSpPr>
        <p:grpSpPr>
          <a:xfrm>
            <a:off x="2293727" y="4409758"/>
            <a:ext cx="1285878" cy="1285876"/>
            <a:chOff x="2293727" y="4409758"/>
            <a:chExt cx="1285878" cy="1285876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CCF7A70C-789E-7617-1401-D908C9BBFA26}"/>
                </a:ext>
              </a:extLst>
            </p:cNvPr>
            <p:cNvSpPr/>
            <p:nvPr/>
          </p:nvSpPr>
          <p:spPr>
            <a:xfrm>
              <a:off x="2293727" y="4409758"/>
              <a:ext cx="1285878" cy="1285876"/>
            </a:xfrm>
            <a:prstGeom prst="ellipse">
              <a:avLst/>
            </a:prstGeom>
            <a:solidFill>
              <a:srgbClr val="0720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072179"/>
                </a:solidFill>
              </a:endParaRPr>
            </a:p>
          </p:txBody>
        </p:sp>
        <p:pic>
          <p:nvPicPr>
            <p:cNvPr id="22" name="Picture 21" descr="Why Does My Business Need to Transform Data? | Blog | Fivetran">
              <a:extLst>
                <a:ext uri="{FF2B5EF4-FFF2-40B4-BE49-F238E27FC236}">
                  <a16:creationId xmlns:a16="http://schemas.microsoft.com/office/drawing/2014/main" id="{FA9760F6-3506-7C21-40CA-7126AE31246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314" t="-29151" r="6109" b="-44000"/>
            <a:stretch/>
          </p:blipFill>
          <p:spPr bwMode="auto">
            <a:xfrm>
              <a:off x="2293727" y="4409758"/>
              <a:ext cx="1285878" cy="1285876"/>
            </a:xfrm>
            <a:custGeom>
              <a:avLst/>
              <a:gdLst>
                <a:gd name="connsiteX0" fmla="*/ 642939 w 1285878"/>
                <a:gd name="connsiteY0" fmla="*/ 0 h 1285876"/>
                <a:gd name="connsiteX1" fmla="*/ 1285878 w 1285878"/>
                <a:gd name="connsiteY1" fmla="*/ 642938 h 1285876"/>
                <a:gd name="connsiteX2" fmla="*/ 642939 w 1285878"/>
                <a:gd name="connsiteY2" fmla="*/ 1285876 h 1285876"/>
                <a:gd name="connsiteX3" fmla="*/ 0 w 1285878"/>
                <a:gd name="connsiteY3" fmla="*/ 642938 h 1285876"/>
                <a:gd name="connsiteX4" fmla="*/ 642939 w 1285878"/>
                <a:gd name="connsiteY4" fmla="*/ 0 h 1285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5878" h="1285876">
                  <a:moveTo>
                    <a:pt x="642939" y="0"/>
                  </a:moveTo>
                  <a:cubicBezTo>
                    <a:pt x="998024" y="0"/>
                    <a:pt x="1285878" y="287853"/>
                    <a:pt x="1285878" y="642938"/>
                  </a:cubicBezTo>
                  <a:cubicBezTo>
                    <a:pt x="1285878" y="998023"/>
                    <a:pt x="998024" y="1285876"/>
                    <a:pt x="642939" y="1285876"/>
                  </a:cubicBezTo>
                  <a:cubicBezTo>
                    <a:pt x="287854" y="1285876"/>
                    <a:pt x="0" y="998023"/>
                    <a:pt x="0" y="642938"/>
                  </a:cubicBezTo>
                  <a:cubicBezTo>
                    <a:pt x="0" y="287853"/>
                    <a:pt x="287854" y="0"/>
                    <a:pt x="642939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E5700D6A-AEDF-5A3C-83D4-45C762E3C91A}"/>
              </a:ext>
            </a:extLst>
          </p:cNvPr>
          <p:cNvSpPr txBox="1"/>
          <p:nvPr/>
        </p:nvSpPr>
        <p:spPr>
          <a:xfrm>
            <a:off x="777976" y="6185941"/>
            <a:ext cx="108310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https://www.fivetran.com/blog/why-does-my-business-need-to-transform-data</a:t>
            </a:r>
            <a:br>
              <a:rPr lang="en-IN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https://online.keele.ac.uk/wp-content/uploads/2023/07/data-clustering.jpg</a:t>
            </a:r>
          </a:p>
          <a:p>
            <a:r>
              <a:rPr lang="en-IN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https://www.simplilearn.com/data-analysis-methods-process-types-article</a:t>
            </a:r>
          </a:p>
        </p:txBody>
      </p:sp>
      <p:sp>
        <p:nvSpPr>
          <p:cNvPr id="10" name="Rectangle: Diagonal Corners Rounded 9">
            <a:extLst>
              <a:ext uri="{FF2B5EF4-FFF2-40B4-BE49-F238E27FC236}">
                <a16:creationId xmlns:a16="http://schemas.microsoft.com/office/drawing/2014/main" id="{7D1E0F29-57A7-17AA-02D6-589BA4056220}"/>
              </a:ext>
            </a:extLst>
          </p:cNvPr>
          <p:cNvSpPr/>
          <p:nvPr/>
        </p:nvSpPr>
        <p:spPr>
          <a:xfrm>
            <a:off x="4821457" y="1624315"/>
            <a:ext cx="2564219" cy="1216662"/>
          </a:xfrm>
          <a:prstGeom prst="round2Diag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Clustering Analysis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584BA0-E933-3167-1D70-0BBA0C454A82}"/>
              </a:ext>
            </a:extLst>
          </p:cNvPr>
          <p:cNvSpPr/>
          <p:nvPr/>
        </p:nvSpPr>
        <p:spPr>
          <a:xfrm>
            <a:off x="4821457" y="3096199"/>
            <a:ext cx="2564219" cy="12166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Utilizing clustering algorithms to identify distinct subsets within immune cell populations</a:t>
            </a:r>
            <a:endParaRPr lang="en-IN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2" name="Picture 31" descr="Clustering and cluster analysis: an explainer - Keele University - Study  online">
            <a:extLst>
              <a:ext uri="{FF2B5EF4-FFF2-40B4-BE49-F238E27FC236}">
                <a16:creationId xmlns:a16="http://schemas.microsoft.com/office/drawing/2014/main" id="{C0E8EE00-2006-16D7-0E20-7BBCED8715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22" r="25278"/>
          <a:stretch/>
        </p:blipFill>
        <p:spPr bwMode="auto">
          <a:xfrm>
            <a:off x="5460627" y="4409758"/>
            <a:ext cx="1285878" cy="1285876"/>
          </a:xfrm>
          <a:custGeom>
            <a:avLst/>
            <a:gdLst>
              <a:gd name="connsiteX0" fmla="*/ 642939 w 1285878"/>
              <a:gd name="connsiteY0" fmla="*/ 0 h 1285876"/>
              <a:gd name="connsiteX1" fmla="*/ 1285878 w 1285878"/>
              <a:gd name="connsiteY1" fmla="*/ 642938 h 1285876"/>
              <a:gd name="connsiteX2" fmla="*/ 642939 w 1285878"/>
              <a:gd name="connsiteY2" fmla="*/ 1285876 h 1285876"/>
              <a:gd name="connsiteX3" fmla="*/ 0 w 1285878"/>
              <a:gd name="connsiteY3" fmla="*/ 642938 h 1285876"/>
              <a:gd name="connsiteX4" fmla="*/ 642939 w 1285878"/>
              <a:gd name="connsiteY4" fmla="*/ 0 h 1285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5878" h="1285876">
                <a:moveTo>
                  <a:pt x="642939" y="0"/>
                </a:moveTo>
                <a:cubicBezTo>
                  <a:pt x="998024" y="0"/>
                  <a:pt x="1285878" y="287853"/>
                  <a:pt x="1285878" y="642938"/>
                </a:cubicBezTo>
                <a:cubicBezTo>
                  <a:pt x="1285878" y="998023"/>
                  <a:pt x="998024" y="1285876"/>
                  <a:pt x="642939" y="1285876"/>
                </a:cubicBezTo>
                <a:cubicBezTo>
                  <a:pt x="287854" y="1285876"/>
                  <a:pt x="0" y="998023"/>
                  <a:pt x="0" y="642938"/>
                </a:cubicBezTo>
                <a:cubicBezTo>
                  <a:pt x="0" y="287853"/>
                  <a:pt x="287854" y="0"/>
                  <a:pt x="642939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: Diagonal Corners Rounded 10">
            <a:extLst>
              <a:ext uri="{FF2B5EF4-FFF2-40B4-BE49-F238E27FC236}">
                <a16:creationId xmlns:a16="http://schemas.microsoft.com/office/drawing/2014/main" id="{D1299600-0C3B-1254-517D-BD30302B5208}"/>
              </a:ext>
            </a:extLst>
          </p:cNvPr>
          <p:cNvSpPr/>
          <p:nvPr/>
        </p:nvSpPr>
        <p:spPr>
          <a:xfrm>
            <a:off x="8214942" y="1624315"/>
            <a:ext cx="2564219" cy="1216662"/>
          </a:xfrm>
          <a:prstGeom prst="round2Diag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Differential Analysis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1A268DE-9D93-10D6-42A0-64168553EB03}"/>
              </a:ext>
            </a:extLst>
          </p:cNvPr>
          <p:cNvSpPr/>
          <p:nvPr/>
        </p:nvSpPr>
        <p:spPr>
          <a:xfrm>
            <a:off x="8036101" y="3096199"/>
            <a:ext cx="2921900" cy="12166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Comparing immune cell profiles to identify significant differences between flare and remission states</a:t>
            </a:r>
            <a:endParaRPr lang="en-IN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3" name="Picture 32" descr="What Is Data Analysis: A Comprehensive Guide">
            <a:extLst>
              <a:ext uri="{FF2B5EF4-FFF2-40B4-BE49-F238E27FC236}">
                <a16:creationId xmlns:a16="http://schemas.microsoft.com/office/drawing/2014/main" id="{9D16F21D-17F9-D59E-348E-EB693992C5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86" r="27764"/>
          <a:stretch/>
        </p:blipFill>
        <p:spPr bwMode="auto">
          <a:xfrm>
            <a:off x="8854112" y="4409758"/>
            <a:ext cx="1285878" cy="1285876"/>
          </a:xfrm>
          <a:custGeom>
            <a:avLst/>
            <a:gdLst>
              <a:gd name="connsiteX0" fmla="*/ 642939 w 1285878"/>
              <a:gd name="connsiteY0" fmla="*/ 0 h 1285876"/>
              <a:gd name="connsiteX1" fmla="*/ 1285878 w 1285878"/>
              <a:gd name="connsiteY1" fmla="*/ 642938 h 1285876"/>
              <a:gd name="connsiteX2" fmla="*/ 642939 w 1285878"/>
              <a:gd name="connsiteY2" fmla="*/ 1285876 h 1285876"/>
              <a:gd name="connsiteX3" fmla="*/ 0 w 1285878"/>
              <a:gd name="connsiteY3" fmla="*/ 642938 h 1285876"/>
              <a:gd name="connsiteX4" fmla="*/ 642939 w 1285878"/>
              <a:gd name="connsiteY4" fmla="*/ 0 h 1285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5878" h="1285876">
                <a:moveTo>
                  <a:pt x="642939" y="0"/>
                </a:moveTo>
                <a:cubicBezTo>
                  <a:pt x="998024" y="0"/>
                  <a:pt x="1285878" y="287853"/>
                  <a:pt x="1285878" y="642938"/>
                </a:cubicBezTo>
                <a:cubicBezTo>
                  <a:pt x="1285878" y="998023"/>
                  <a:pt x="998024" y="1285876"/>
                  <a:pt x="642939" y="1285876"/>
                </a:cubicBezTo>
                <a:cubicBezTo>
                  <a:pt x="287854" y="1285876"/>
                  <a:pt x="0" y="998023"/>
                  <a:pt x="0" y="642938"/>
                </a:cubicBezTo>
                <a:cubicBezTo>
                  <a:pt x="0" y="287853"/>
                  <a:pt x="287854" y="0"/>
                  <a:pt x="642939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8E47893-5CD4-6FFD-67CE-949C932C9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C7F80-EE1A-4CD1-A379-9B77B0EEE16D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3131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C57061A-B91E-EE86-C204-BCE2A9795839}"/>
              </a:ext>
            </a:extLst>
          </p:cNvPr>
          <p:cNvCxnSpPr>
            <a:cxnSpLocks/>
          </p:cNvCxnSpPr>
          <p:nvPr/>
        </p:nvCxnSpPr>
        <p:spPr>
          <a:xfrm flipV="1">
            <a:off x="2892778" y="3902153"/>
            <a:ext cx="0" cy="1697497"/>
          </a:xfrm>
          <a:prstGeom prst="line">
            <a:avLst/>
          </a:prstGeom>
          <a:ln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47A65B0-1556-9C81-6C9F-93441995334F}"/>
              </a:ext>
            </a:extLst>
          </p:cNvPr>
          <p:cNvCxnSpPr>
            <a:cxnSpLocks/>
          </p:cNvCxnSpPr>
          <p:nvPr/>
        </p:nvCxnSpPr>
        <p:spPr>
          <a:xfrm flipV="1">
            <a:off x="5572182" y="3902153"/>
            <a:ext cx="0" cy="1697497"/>
          </a:xfrm>
          <a:prstGeom prst="line">
            <a:avLst/>
          </a:prstGeom>
          <a:ln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33DF06A-514C-63CE-4BAD-2580A7F07CF0}"/>
              </a:ext>
            </a:extLst>
          </p:cNvPr>
          <p:cNvCxnSpPr>
            <a:cxnSpLocks/>
          </p:cNvCxnSpPr>
          <p:nvPr/>
        </p:nvCxnSpPr>
        <p:spPr>
          <a:xfrm flipV="1">
            <a:off x="8187792" y="3902153"/>
            <a:ext cx="0" cy="1697497"/>
          </a:xfrm>
          <a:prstGeom prst="line">
            <a:avLst/>
          </a:prstGeom>
          <a:ln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61A6B97-F31A-E239-D3A4-D5E60F47A422}"/>
              </a:ext>
            </a:extLst>
          </p:cNvPr>
          <p:cNvCxnSpPr>
            <a:cxnSpLocks/>
          </p:cNvCxnSpPr>
          <p:nvPr/>
        </p:nvCxnSpPr>
        <p:spPr>
          <a:xfrm flipV="1">
            <a:off x="10771504" y="3902153"/>
            <a:ext cx="0" cy="1697497"/>
          </a:xfrm>
          <a:prstGeom prst="line">
            <a:avLst/>
          </a:prstGeom>
          <a:ln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CD6D083-4A15-9FC2-B3FB-EF698FF4A75A}"/>
              </a:ext>
            </a:extLst>
          </p:cNvPr>
          <p:cNvCxnSpPr>
            <a:cxnSpLocks/>
          </p:cNvCxnSpPr>
          <p:nvPr/>
        </p:nvCxnSpPr>
        <p:spPr>
          <a:xfrm>
            <a:off x="3679587" y="2243473"/>
            <a:ext cx="0" cy="1635152"/>
          </a:xfrm>
          <a:prstGeom prst="line">
            <a:avLst/>
          </a:prstGeom>
          <a:ln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8850531-32DA-4A9C-430A-69B61224637B}"/>
              </a:ext>
            </a:extLst>
          </p:cNvPr>
          <p:cNvCxnSpPr>
            <a:cxnSpLocks/>
          </p:cNvCxnSpPr>
          <p:nvPr/>
        </p:nvCxnSpPr>
        <p:spPr>
          <a:xfrm>
            <a:off x="6316462" y="2243473"/>
            <a:ext cx="0" cy="1635152"/>
          </a:xfrm>
          <a:prstGeom prst="line">
            <a:avLst/>
          </a:prstGeom>
          <a:ln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480867C-4C71-DD0E-5A90-AFE4FD494247}"/>
              </a:ext>
            </a:extLst>
          </p:cNvPr>
          <p:cNvCxnSpPr>
            <a:cxnSpLocks/>
          </p:cNvCxnSpPr>
          <p:nvPr/>
        </p:nvCxnSpPr>
        <p:spPr>
          <a:xfrm>
            <a:off x="8974601" y="2243473"/>
            <a:ext cx="0" cy="1635152"/>
          </a:xfrm>
          <a:prstGeom prst="line">
            <a:avLst/>
          </a:prstGeom>
          <a:ln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95ADBFE-DB87-35BC-E06E-B0083AE47549}"/>
              </a:ext>
            </a:extLst>
          </p:cNvPr>
          <p:cNvCxnSpPr>
            <a:cxnSpLocks/>
          </p:cNvCxnSpPr>
          <p:nvPr/>
        </p:nvCxnSpPr>
        <p:spPr>
          <a:xfrm>
            <a:off x="1021448" y="2243473"/>
            <a:ext cx="0" cy="1635152"/>
          </a:xfrm>
          <a:prstGeom prst="line">
            <a:avLst/>
          </a:prstGeom>
          <a:ln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c 3">
            <a:extLst>
              <a:ext uri="{FF2B5EF4-FFF2-40B4-BE49-F238E27FC236}">
                <a16:creationId xmlns:a16="http://schemas.microsoft.com/office/drawing/2014/main" id="{DCFF7532-396F-EA47-AB9C-FC92BD0FCB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74419" y="12812"/>
            <a:ext cx="4217581" cy="1528909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3CA70B6D-5D3F-79A6-1870-7ABF386E64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-1" y="5695634"/>
            <a:ext cx="2573080" cy="1162364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1D057801-6EDC-7CC3-EDFE-7CCE56535C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7976" y="411651"/>
            <a:ext cx="530548" cy="709148"/>
          </a:xfrm>
          <a:prstGeom prst="rect">
            <a:avLst/>
          </a:prstGeom>
        </p:spPr>
      </p:pic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A5ADBB9B-E599-FF74-8FFE-2EEBA6BAFC42}"/>
              </a:ext>
            </a:extLst>
          </p:cNvPr>
          <p:cNvSpPr/>
          <p:nvPr/>
        </p:nvSpPr>
        <p:spPr>
          <a:xfrm rot="16200000">
            <a:off x="6488365" y="-4649291"/>
            <a:ext cx="576238" cy="10831033"/>
          </a:xfrm>
          <a:prstGeom prst="round2Same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ABC6709-A077-6D74-BBC4-0E111AF751A3}"/>
              </a:ext>
            </a:extLst>
          </p:cNvPr>
          <p:cNvSpPr txBox="1">
            <a:spLocks/>
          </p:cNvSpPr>
          <p:nvPr/>
        </p:nvSpPr>
        <p:spPr>
          <a:xfrm>
            <a:off x="1639006" y="560700"/>
            <a:ext cx="10102702" cy="4535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Transformation </a:t>
            </a:r>
            <a:endParaRPr lang="en-IN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8C9208A-0A0F-E1A0-3D36-34387BAC882D}"/>
              </a:ext>
            </a:extLst>
          </p:cNvPr>
          <p:cNvSpPr/>
          <p:nvPr/>
        </p:nvSpPr>
        <p:spPr>
          <a:xfrm>
            <a:off x="946298" y="1858236"/>
            <a:ext cx="2052084" cy="45966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i="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Data Collection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DFE8E93-2721-25E3-F4D2-87E7CDB450D0}"/>
              </a:ext>
            </a:extLst>
          </p:cNvPr>
          <p:cNvSpPr/>
          <p:nvPr/>
        </p:nvSpPr>
        <p:spPr>
          <a:xfrm>
            <a:off x="3590261" y="1858236"/>
            <a:ext cx="2052084" cy="45966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Normalization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ABB350C-1917-4839-E547-B1289357586B}"/>
              </a:ext>
            </a:extLst>
          </p:cNvPr>
          <p:cNvSpPr/>
          <p:nvPr/>
        </p:nvSpPr>
        <p:spPr>
          <a:xfrm>
            <a:off x="6234224" y="1858236"/>
            <a:ext cx="2052084" cy="45966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Feature Extraction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FEFF3A3-FB84-2A43-7C95-16E9D1EA5993}"/>
              </a:ext>
            </a:extLst>
          </p:cNvPr>
          <p:cNvSpPr/>
          <p:nvPr/>
        </p:nvSpPr>
        <p:spPr>
          <a:xfrm>
            <a:off x="8878187" y="1858236"/>
            <a:ext cx="2052084" cy="45966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Quality Control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8B2F42F-8F74-1B38-F869-2DD9372DE052}"/>
              </a:ext>
            </a:extLst>
          </p:cNvPr>
          <p:cNvSpPr/>
          <p:nvPr/>
        </p:nvSpPr>
        <p:spPr>
          <a:xfrm>
            <a:off x="946298" y="5118630"/>
            <a:ext cx="2052084" cy="57623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br>
              <a:rPr lang="en-US" sz="1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Preprocessing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CC32AD8-D0A5-406E-A0BC-8D3EAD52B2D2}"/>
              </a:ext>
            </a:extLst>
          </p:cNvPr>
          <p:cNvSpPr/>
          <p:nvPr/>
        </p:nvSpPr>
        <p:spPr>
          <a:xfrm>
            <a:off x="3590261" y="5118630"/>
            <a:ext cx="2052084" cy="57623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Scaling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2234D1D-4B19-CFC5-08EF-F6976D2D4EE0}"/>
              </a:ext>
            </a:extLst>
          </p:cNvPr>
          <p:cNvSpPr/>
          <p:nvPr/>
        </p:nvSpPr>
        <p:spPr>
          <a:xfrm>
            <a:off x="6234224" y="5118630"/>
            <a:ext cx="2052084" cy="57623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Dimensionality Reduction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EE0FD93-4648-5557-0E39-A4D76DABA7DB}"/>
              </a:ext>
            </a:extLst>
          </p:cNvPr>
          <p:cNvSpPr/>
          <p:nvPr/>
        </p:nvSpPr>
        <p:spPr>
          <a:xfrm>
            <a:off x="8878187" y="5118630"/>
            <a:ext cx="2052084" cy="57623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Formatting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4E147AD-F42E-A90D-3F7B-7E1EBED02F6E}"/>
              </a:ext>
            </a:extLst>
          </p:cNvPr>
          <p:cNvCxnSpPr>
            <a:cxnSpLocks/>
          </p:cNvCxnSpPr>
          <p:nvPr/>
        </p:nvCxnSpPr>
        <p:spPr>
          <a:xfrm>
            <a:off x="732774" y="3878625"/>
            <a:ext cx="10726452" cy="0"/>
          </a:xfrm>
          <a:prstGeom prst="line">
            <a:avLst/>
          </a:prstGeom>
          <a:ln w="15875">
            <a:solidFill>
              <a:schemeClr val="accent1"/>
            </a:solidFill>
            <a:prstDash val="sysDot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B2EF3412-1EF8-7C96-70FE-98F46F39D322}"/>
              </a:ext>
            </a:extLst>
          </p:cNvPr>
          <p:cNvSpPr txBox="1"/>
          <p:nvPr/>
        </p:nvSpPr>
        <p:spPr>
          <a:xfrm>
            <a:off x="1096599" y="2431552"/>
            <a:ext cx="18426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Collect flow cytometry data targeting immune cell populations from biological samples such as blood or synovial fluid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ACFA21B-A0E5-7162-CA2A-9F3D5A5BBC83}"/>
              </a:ext>
            </a:extLst>
          </p:cNvPr>
          <p:cNvSpPr txBox="1"/>
          <p:nvPr/>
        </p:nvSpPr>
        <p:spPr>
          <a:xfrm>
            <a:off x="1096599" y="4410220"/>
            <a:ext cx="14764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Remove errors or inconsistencies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24B34A6-D257-42F3-9A5B-A3D09B945406}"/>
              </a:ext>
            </a:extLst>
          </p:cNvPr>
          <p:cNvSpPr txBox="1"/>
          <p:nvPr/>
        </p:nvSpPr>
        <p:spPr>
          <a:xfrm>
            <a:off x="3797269" y="2431552"/>
            <a:ext cx="16611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Standardize data across samples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BE082DE-9BB4-AC36-09A4-45F74184EB2F}"/>
              </a:ext>
            </a:extLst>
          </p:cNvPr>
          <p:cNvSpPr txBox="1"/>
          <p:nvPr/>
        </p:nvSpPr>
        <p:spPr>
          <a:xfrm>
            <a:off x="6434143" y="2431552"/>
            <a:ext cx="219667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Selecting relevant parameters such as fluorescence intensity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Extract meaningful features - cell surface markers or intracellular cytokines.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4EFD577-467D-63F9-EE3D-0BEF9C0C42C1}"/>
              </a:ext>
            </a:extLst>
          </p:cNvPr>
          <p:cNvSpPr txBox="1"/>
          <p:nvPr/>
        </p:nvSpPr>
        <p:spPr>
          <a:xfrm>
            <a:off x="3590261" y="4410220"/>
            <a:ext cx="14764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Adjust range of values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BB51704-DDDA-6072-BAA9-FD27A9868030}"/>
              </a:ext>
            </a:extLst>
          </p:cNvPr>
          <p:cNvSpPr txBox="1"/>
          <p:nvPr/>
        </p:nvSpPr>
        <p:spPr>
          <a:xfrm>
            <a:off x="6271834" y="4410220"/>
            <a:ext cx="17855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Reduce number of features while preserving information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9B33D1F-EAC1-4A89-BF67-310A86CC695C}"/>
              </a:ext>
            </a:extLst>
          </p:cNvPr>
          <p:cNvSpPr txBox="1"/>
          <p:nvPr/>
        </p:nvSpPr>
        <p:spPr>
          <a:xfrm>
            <a:off x="9092283" y="2431552"/>
            <a:ext cx="21966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Ensure data quality and reliability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Address anomalies or artifacts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104703F-EA99-6669-D709-0DFC73596550}"/>
              </a:ext>
            </a:extLst>
          </p:cNvPr>
          <p:cNvSpPr txBox="1"/>
          <p:nvPr/>
        </p:nvSpPr>
        <p:spPr>
          <a:xfrm>
            <a:off x="8878187" y="4410220"/>
            <a:ext cx="17855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Format data into structured format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CE140ECD-E965-34DD-C87D-C2B3372C1F2F}"/>
              </a:ext>
            </a:extLst>
          </p:cNvPr>
          <p:cNvSpPr/>
          <p:nvPr/>
        </p:nvSpPr>
        <p:spPr>
          <a:xfrm>
            <a:off x="828617" y="1895166"/>
            <a:ext cx="385807" cy="38580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E11F3A41-8ACA-FDB1-1A70-41A7A9086997}"/>
              </a:ext>
            </a:extLst>
          </p:cNvPr>
          <p:cNvSpPr/>
          <p:nvPr/>
        </p:nvSpPr>
        <p:spPr>
          <a:xfrm>
            <a:off x="3465492" y="1895166"/>
            <a:ext cx="385807" cy="38580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3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8F89E21D-01DA-DA6A-FB17-98487A6E08C0}"/>
              </a:ext>
            </a:extLst>
          </p:cNvPr>
          <p:cNvSpPr/>
          <p:nvPr/>
        </p:nvSpPr>
        <p:spPr>
          <a:xfrm>
            <a:off x="6027939" y="1895166"/>
            <a:ext cx="385807" cy="38580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5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801B31CE-4B0A-D8AB-188A-6EF170D6DC4D}"/>
              </a:ext>
            </a:extLst>
          </p:cNvPr>
          <p:cNvSpPr/>
          <p:nvPr/>
        </p:nvSpPr>
        <p:spPr>
          <a:xfrm>
            <a:off x="8664813" y="1895166"/>
            <a:ext cx="385807" cy="38580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7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9D734769-CDE2-F585-0A62-B9822E938968}"/>
              </a:ext>
            </a:extLst>
          </p:cNvPr>
          <p:cNvSpPr/>
          <p:nvPr/>
        </p:nvSpPr>
        <p:spPr>
          <a:xfrm>
            <a:off x="828617" y="5213846"/>
            <a:ext cx="385807" cy="38580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753BCF5B-0D95-452A-1A62-CB6841C4E58A}"/>
              </a:ext>
            </a:extLst>
          </p:cNvPr>
          <p:cNvSpPr/>
          <p:nvPr/>
        </p:nvSpPr>
        <p:spPr>
          <a:xfrm>
            <a:off x="3465492" y="5213846"/>
            <a:ext cx="385807" cy="38580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4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77C31F4A-B599-483C-D7A3-0023EBBDA175}"/>
              </a:ext>
            </a:extLst>
          </p:cNvPr>
          <p:cNvSpPr/>
          <p:nvPr/>
        </p:nvSpPr>
        <p:spPr>
          <a:xfrm>
            <a:off x="6027939" y="5213846"/>
            <a:ext cx="385807" cy="38580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6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7829882E-7A5B-7891-B422-AFFC935ED261}"/>
              </a:ext>
            </a:extLst>
          </p:cNvPr>
          <p:cNvSpPr/>
          <p:nvPr/>
        </p:nvSpPr>
        <p:spPr>
          <a:xfrm>
            <a:off x="8664813" y="5213846"/>
            <a:ext cx="385807" cy="38580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8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32C0E02-5EF9-793C-72A0-0434E8C79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C7F80-EE1A-4CD1-A379-9B77B0EEE16D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1047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14" name="Group 4113">
            <a:extLst>
              <a:ext uri="{FF2B5EF4-FFF2-40B4-BE49-F238E27FC236}">
                <a16:creationId xmlns:a16="http://schemas.microsoft.com/office/drawing/2014/main" id="{476A1940-FFAD-C1D7-2C52-18BFD0A5E5FE}"/>
              </a:ext>
            </a:extLst>
          </p:cNvPr>
          <p:cNvGrpSpPr/>
          <p:nvPr/>
        </p:nvGrpSpPr>
        <p:grpSpPr>
          <a:xfrm>
            <a:off x="7677774" y="1939227"/>
            <a:ext cx="332198" cy="3546282"/>
            <a:chOff x="7677773" y="1939227"/>
            <a:chExt cx="451113" cy="3546282"/>
          </a:xfrm>
        </p:grpSpPr>
        <p:cxnSp>
          <p:nvCxnSpPr>
            <p:cNvPr id="4107" name="Straight Connector 4106">
              <a:extLst>
                <a:ext uri="{FF2B5EF4-FFF2-40B4-BE49-F238E27FC236}">
                  <a16:creationId xmlns:a16="http://schemas.microsoft.com/office/drawing/2014/main" id="{77354F3E-1E3D-EC40-87DC-753C9A2B9624}"/>
                </a:ext>
              </a:extLst>
            </p:cNvPr>
            <p:cNvCxnSpPr>
              <a:cxnSpLocks/>
            </p:cNvCxnSpPr>
            <p:nvPr/>
          </p:nvCxnSpPr>
          <p:spPr>
            <a:xfrm>
              <a:off x="7677773" y="1939227"/>
              <a:ext cx="451113" cy="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0" name="Straight Connector 4109">
              <a:extLst>
                <a:ext uri="{FF2B5EF4-FFF2-40B4-BE49-F238E27FC236}">
                  <a16:creationId xmlns:a16="http://schemas.microsoft.com/office/drawing/2014/main" id="{D02C8985-D66C-CD55-80ED-BA66908CCBF8}"/>
                </a:ext>
              </a:extLst>
            </p:cNvPr>
            <p:cNvCxnSpPr>
              <a:cxnSpLocks/>
            </p:cNvCxnSpPr>
            <p:nvPr/>
          </p:nvCxnSpPr>
          <p:spPr>
            <a:xfrm>
              <a:off x="7677773" y="2845676"/>
              <a:ext cx="451113" cy="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1" name="Straight Connector 4110">
              <a:extLst>
                <a:ext uri="{FF2B5EF4-FFF2-40B4-BE49-F238E27FC236}">
                  <a16:creationId xmlns:a16="http://schemas.microsoft.com/office/drawing/2014/main" id="{A4FB6142-69D2-8098-8FF9-7629EECE2569}"/>
                </a:ext>
              </a:extLst>
            </p:cNvPr>
            <p:cNvCxnSpPr>
              <a:cxnSpLocks/>
            </p:cNvCxnSpPr>
            <p:nvPr/>
          </p:nvCxnSpPr>
          <p:spPr>
            <a:xfrm>
              <a:off x="7677773" y="3791881"/>
              <a:ext cx="451113" cy="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2" name="Straight Connector 4111">
              <a:extLst>
                <a:ext uri="{FF2B5EF4-FFF2-40B4-BE49-F238E27FC236}">
                  <a16:creationId xmlns:a16="http://schemas.microsoft.com/office/drawing/2014/main" id="{68FAD8C5-1D03-31CB-1170-08CBFAC73C13}"/>
                </a:ext>
              </a:extLst>
            </p:cNvPr>
            <p:cNvCxnSpPr>
              <a:cxnSpLocks/>
            </p:cNvCxnSpPr>
            <p:nvPr/>
          </p:nvCxnSpPr>
          <p:spPr>
            <a:xfrm>
              <a:off x="7677773" y="4618817"/>
              <a:ext cx="451113" cy="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3" name="Straight Connector 4112">
              <a:extLst>
                <a:ext uri="{FF2B5EF4-FFF2-40B4-BE49-F238E27FC236}">
                  <a16:creationId xmlns:a16="http://schemas.microsoft.com/office/drawing/2014/main" id="{6CFFC577-0D00-EAA2-E024-D08770D234F2}"/>
                </a:ext>
              </a:extLst>
            </p:cNvPr>
            <p:cNvCxnSpPr>
              <a:cxnSpLocks/>
            </p:cNvCxnSpPr>
            <p:nvPr/>
          </p:nvCxnSpPr>
          <p:spPr>
            <a:xfrm>
              <a:off x="7677773" y="5485509"/>
              <a:ext cx="451113" cy="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105" name="Straight Connector 4104">
            <a:extLst>
              <a:ext uri="{FF2B5EF4-FFF2-40B4-BE49-F238E27FC236}">
                <a16:creationId xmlns:a16="http://schemas.microsoft.com/office/drawing/2014/main" id="{A1CF36D8-1034-41D8-EFBE-C4ADF372BA0B}"/>
              </a:ext>
            </a:extLst>
          </p:cNvPr>
          <p:cNvCxnSpPr>
            <a:cxnSpLocks/>
          </p:cNvCxnSpPr>
          <p:nvPr/>
        </p:nvCxnSpPr>
        <p:spPr>
          <a:xfrm>
            <a:off x="8152739" y="1579207"/>
            <a:ext cx="0" cy="4194272"/>
          </a:xfrm>
          <a:prstGeom prst="line">
            <a:avLst/>
          </a:prstGeom>
          <a:ln w="15875">
            <a:solidFill>
              <a:schemeClr val="accent1"/>
            </a:solidFill>
            <a:prstDash val="sysDot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97" name="Oval 4096">
            <a:extLst>
              <a:ext uri="{FF2B5EF4-FFF2-40B4-BE49-F238E27FC236}">
                <a16:creationId xmlns:a16="http://schemas.microsoft.com/office/drawing/2014/main" id="{D28C3EAC-199D-B3A5-D05F-E0C854018CBE}"/>
              </a:ext>
            </a:extLst>
          </p:cNvPr>
          <p:cNvSpPr/>
          <p:nvPr/>
        </p:nvSpPr>
        <p:spPr>
          <a:xfrm>
            <a:off x="8009971" y="1773941"/>
            <a:ext cx="285536" cy="28553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4099" name="Oval 4098">
            <a:extLst>
              <a:ext uri="{FF2B5EF4-FFF2-40B4-BE49-F238E27FC236}">
                <a16:creationId xmlns:a16="http://schemas.microsoft.com/office/drawing/2014/main" id="{499474B7-33C1-F58B-7632-D72596B271DE}"/>
              </a:ext>
            </a:extLst>
          </p:cNvPr>
          <p:cNvSpPr/>
          <p:nvPr/>
        </p:nvSpPr>
        <p:spPr>
          <a:xfrm>
            <a:off x="8009971" y="3628698"/>
            <a:ext cx="285536" cy="28553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4100" name="Oval 4099">
            <a:extLst>
              <a:ext uri="{FF2B5EF4-FFF2-40B4-BE49-F238E27FC236}">
                <a16:creationId xmlns:a16="http://schemas.microsoft.com/office/drawing/2014/main" id="{22BE3FF0-6474-62C4-ECCB-700488DBB43B}"/>
              </a:ext>
            </a:extLst>
          </p:cNvPr>
          <p:cNvSpPr/>
          <p:nvPr/>
        </p:nvSpPr>
        <p:spPr>
          <a:xfrm>
            <a:off x="8009971" y="2693033"/>
            <a:ext cx="285536" cy="28553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4101" name="Oval 4100">
            <a:extLst>
              <a:ext uri="{FF2B5EF4-FFF2-40B4-BE49-F238E27FC236}">
                <a16:creationId xmlns:a16="http://schemas.microsoft.com/office/drawing/2014/main" id="{43F16803-6D3A-E6CF-64A1-7EF09C0051E9}"/>
              </a:ext>
            </a:extLst>
          </p:cNvPr>
          <p:cNvSpPr/>
          <p:nvPr/>
        </p:nvSpPr>
        <p:spPr>
          <a:xfrm>
            <a:off x="8009971" y="4479303"/>
            <a:ext cx="285536" cy="28553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4102" name="Oval 4101">
            <a:extLst>
              <a:ext uri="{FF2B5EF4-FFF2-40B4-BE49-F238E27FC236}">
                <a16:creationId xmlns:a16="http://schemas.microsoft.com/office/drawing/2014/main" id="{76A2E3E2-7BDE-8073-1610-925DDB4418D5}"/>
              </a:ext>
            </a:extLst>
          </p:cNvPr>
          <p:cNvSpPr/>
          <p:nvPr/>
        </p:nvSpPr>
        <p:spPr>
          <a:xfrm>
            <a:off x="8009971" y="5338296"/>
            <a:ext cx="285536" cy="28553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0ADE0CF-1237-31FF-931A-57C52912B7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74419" y="12812"/>
            <a:ext cx="4217581" cy="1528909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33BEE93E-90AB-2552-8212-5AE0A50BA6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-1" y="5695634"/>
            <a:ext cx="2573080" cy="1162364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82AFD398-9604-D8FB-7940-49A3357AB3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7976" y="411651"/>
            <a:ext cx="530548" cy="709148"/>
          </a:xfrm>
          <a:prstGeom prst="rect">
            <a:avLst/>
          </a:prstGeom>
        </p:spPr>
      </p:pic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D9754CBB-29CC-87D7-1D18-B5218C59B75B}"/>
              </a:ext>
            </a:extLst>
          </p:cNvPr>
          <p:cNvSpPr/>
          <p:nvPr/>
        </p:nvSpPr>
        <p:spPr>
          <a:xfrm rot="16200000">
            <a:off x="6488365" y="-4649291"/>
            <a:ext cx="576238" cy="10831033"/>
          </a:xfrm>
          <a:prstGeom prst="round2Same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6AB7335-0761-953B-E2D9-A437A0259E47}"/>
              </a:ext>
            </a:extLst>
          </p:cNvPr>
          <p:cNvSpPr txBox="1">
            <a:spLocks/>
          </p:cNvSpPr>
          <p:nvPr/>
        </p:nvSpPr>
        <p:spPr>
          <a:xfrm>
            <a:off x="1639006" y="560700"/>
            <a:ext cx="10102702" cy="4535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Clustering Analysis</a:t>
            </a:r>
            <a:endParaRPr lang="en-IN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E9201B81-3311-1B4F-A0B6-40F325A62615}"/>
              </a:ext>
            </a:extLst>
          </p:cNvPr>
          <p:cNvSpPr/>
          <p:nvPr/>
        </p:nvSpPr>
        <p:spPr>
          <a:xfrm>
            <a:off x="1360967" y="1579207"/>
            <a:ext cx="6316725" cy="75491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B1235FF-3C6B-99BE-310D-51039EA535CE}"/>
              </a:ext>
            </a:extLst>
          </p:cNvPr>
          <p:cNvSpPr txBox="1"/>
          <p:nvPr/>
        </p:nvSpPr>
        <p:spPr>
          <a:xfrm>
            <a:off x="1502237" y="1664276"/>
            <a:ext cx="18068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Apply OPTICS Algorithm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2BA47EA-64B3-2E43-F6E1-D8E07A76B6BA}"/>
              </a:ext>
            </a:extLst>
          </p:cNvPr>
          <p:cNvSpPr txBox="1"/>
          <p:nvPr/>
        </p:nvSpPr>
        <p:spPr>
          <a:xfrm>
            <a:off x="3641348" y="1695053"/>
            <a:ext cx="35497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Use OPTICS clustering algorithm​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Analyze flow cytometry data​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E6C4FE5-8D44-8F80-C300-7AE590C60A19}"/>
              </a:ext>
            </a:extLst>
          </p:cNvPr>
          <p:cNvCxnSpPr>
            <a:cxnSpLocks/>
          </p:cNvCxnSpPr>
          <p:nvPr/>
        </p:nvCxnSpPr>
        <p:spPr>
          <a:xfrm>
            <a:off x="3391782" y="1685516"/>
            <a:ext cx="0" cy="542295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3FFC0309-04A2-180A-E9A5-6A9B6C4E4B86}"/>
              </a:ext>
            </a:extLst>
          </p:cNvPr>
          <p:cNvSpPr/>
          <p:nvPr/>
        </p:nvSpPr>
        <p:spPr>
          <a:xfrm>
            <a:off x="1360967" y="2458345"/>
            <a:ext cx="6316725" cy="75491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34903F7-2C1B-A18C-CA8D-8FAF336DCDC8}"/>
              </a:ext>
            </a:extLst>
          </p:cNvPr>
          <p:cNvSpPr txBox="1"/>
          <p:nvPr/>
        </p:nvSpPr>
        <p:spPr>
          <a:xfrm>
            <a:off x="1502237" y="2666524"/>
            <a:ext cx="18068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Reachability Plot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AF09ACE-A8DA-B335-EE71-BE37C05497D7}"/>
              </a:ext>
            </a:extLst>
          </p:cNvPr>
          <p:cNvSpPr txBox="1"/>
          <p:nvPr/>
        </p:nvSpPr>
        <p:spPr>
          <a:xfrm>
            <a:off x="3641348" y="2466469"/>
            <a:ext cx="354973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Generate reachability plot​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Visualize data ordering based on reachability distance​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F5965DB8-4007-6E0C-86B1-21BF83E6A977}"/>
              </a:ext>
            </a:extLst>
          </p:cNvPr>
          <p:cNvCxnSpPr>
            <a:cxnSpLocks/>
          </p:cNvCxnSpPr>
          <p:nvPr/>
        </p:nvCxnSpPr>
        <p:spPr>
          <a:xfrm>
            <a:off x="3391782" y="2564654"/>
            <a:ext cx="0" cy="542295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9F718EF0-55C2-7265-F8DA-3B9E996AEB3A}"/>
              </a:ext>
            </a:extLst>
          </p:cNvPr>
          <p:cNvSpPr/>
          <p:nvPr/>
        </p:nvSpPr>
        <p:spPr>
          <a:xfrm>
            <a:off x="1360967" y="3394010"/>
            <a:ext cx="6316725" cy="75491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CEAA64E-0FAC-51AC-1F88-0F5A9ADF459E}"/>
              </a:ext>
            </a:extLst>
          </p:cNvPr>
          <p:cNvSpPr txBox="1"/>
          <p:nvPr/>
        </p:nvSpPr>
        <p:spPr>
          <a:xfrm>
            <a:off x="1502237" y="3602189"/>
            <a:ext cx="18068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Cluster Extraction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D1320CE-6A29-F10A-EE85-B20AC774CB20}"/>
              </a:ext>
            </a:extLst>
          </p:cNvPr>
          <p:cNvSpPr txBox="1"/>
          <p:nvPr/>
        </p:nvSpPr>
        <p:spPr>
          <a:xfrm>
            <a:off x="3641348" y="3402134"/>
            <a:ext cx="354973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Identify clusters from reachability plot​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Select points with low reachability distances​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1EB722D2-3815-CB36-6793-E1F7A2D415D1}"/>
              </a:ext>
            </a:extLst>
          </p:cNvPr>
          <p:cNvCxnSpPr>
            <a:cxnSpLocks/>
          </p:cNvCxnSpPr>
          <p:nvPr/>
        </p:nvCxnSpPr>
        <p:spPr>
          <a:xfrm>
            <a:off x="3391782" y="3500319"/>
            <a:ext cx="0" cy="542295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EB1B084B-01B6-2BEA-AFD8-1C79F0D6D3FB}"/>
              </a:ext>
            </a:extLst>
          </p:cNvPr>
          <p:cNvSpPr/>
          <p:nvPr/>
        </p:nvSpPr>
        <p:spPr>
          <a:xfrm>
            <a:off x="1360967" y="4244615"/>
            <a:ext cx="6316725" cy="75491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D665AF5-7785-88C2-6434-B32FD385E836}"/>
              </a:ext>
            </a:extLst>
          </p:cNvPr>
          <p:cNvSpPr txBox="1"/>
          <p:nvPr/>
        </p:nvSpPr>
        <p:spPr>
          <a:xfrm>
            <a:off x="1502237" y="4452794"/>
            <a:ext cx="18068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Cluster Analysis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7A7312B-03F0-1991-2680-8094DEDCC7DE}"/>
              </a:ext>
            </a:extLst>
          </p:cNvPr>
          <p:cNvSpPr txBox="1"/>
          <p:nvPr/>
        </p:nvSpPr>
        <p:spPr>
          <a:xfrm>
            <a:off x="3641348" y="4252739"/>
            <a:ext cx="354973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Analyze cluster characteristics​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Assess immune cell population composition​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F51DCDFB-0CCB-ABBE-829D-296F2CB20BE1}"/>
              </a:ext>
            </a:extLst>
          </p:cNvPr>
          <p:cNvCxnSpPr>
            <a:cxnSpLocks/>
          </p:cNvCxnSpPr>
          <p:nvPr/>
        </p:nvCxnSpPr>
        <p:spPr>
          <a:xfrm>
            <a:off x="3391782" y="4350924"/>
            <a:ext cx="0" cy="542295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4C61B4B7-7BA3-C2D0-2C54-76B8CF0A8D6D}"/>
              </a:ext>
            </a:extLst>
          </p:cNvPr>
          <p:cNvSpPr/>
          <p:nvPr/>
        </p:nvSpPr>
        <p:spPr>
          <a:xfrm>
            <a:off x="1360967" y="5103608"/>
            <a:ext cx="6316725" cy="75491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F36FB7E-13C2-DB77-3BB9-F5CD28AD2FC1}"/>
              </a:ext>
            </a:extLst>
          </p:cNvPr>
          <p:cNvSpPr txBox="1"/>
          <p:nvPr/>
        </p:nvSpPr>
        <p:spPr>
          <a:xfrm>
            <a:off x="1502237" y="5188677"/>
            <a:ext cx="18068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Interpretation and Validation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0E4C1B6-B733-330A-96CB-2BEE25BED177}"/>
              </a:ext>
            </a:extLst>
          </p:cNvPr>
          <p:cNvSpPr txBox="1"/>
          <p:nvPr/>
        </p:nvSpPr>
        <p:spPr>
          <a:xfrm>
            <a:off x="3641348" y="5111732"/>
            <a:ext cx="354973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Interpret clustering results​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Validate clusters using independent datasets or experiments​</a:t>
            </a:r>
          </a:p>
        </p:txBody>
      </p:sp>
      <p:cxnSp>
        <p:nvCxnSpPr>
          <p:cNvPr id="4096" name="Straight Connector 4095">
            <a:extLst>
              <a:ext uri="{FF2B5EF4-FFF2-40B4-BE49-F238E27FC236}">
                <a16:creationId xmlns:a16="http://schemas.microsoft.com/office/drawing/2014/main" id="{4CB55BE0-5B19-4217-2C97-3417425A486D}"/>
              </a:ext>
            </a:extLst>
          </p:cNvPr>
          <p:cNvCxnSpPr>
            <a:cxnSpLocks/>
          </p:cNvCxnSpPr>
          <p:nvPr/>
        </p:nvCxnSpPr>
        <p:spPr>
          <a:xfrm>
            <a:off x="3391782" y="5209917"/>
            <a:ext cx="0" cy="542295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16" name="TextBox 4115">
            <a:extLst>
              <a:ext uri="{FF2B5EF4-FFF2-40B4-BE49-F238E27FC236}">
                <a16:creationId xmlns:a16="http://schemas.microsoft.com/office/drawing/2014/main" id="{D9C9A9E7-DB52-46FB-1987-EF492B33BE8D}"/>
              </a:ext>
            </a:extLst>
          </p:cNvPr>
          <p:cNvSpPr txBox="1"/>
          <p:nvPr/>
        </p:nvSpPr>
        <p:spPr>
          <a:xfrm>
            <a:off x="777976" y="6347866"/>
            <a:ext cx="1083103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b="0" i="0" strike="noStrike" dirty="0"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https://www.questionpro.com/blog/data-analytics-vs-data-analysis/</a:t>
            </a:r>
          </a:p>
        </p:txBody>
      </p:sp>
      <p:pic>
        <p:nvPicPr>
          <p:cNvPr id="4117" name="Picture 6" descr="Data Analytics vs Data Analysis: Key differences with uses">
            <a:extLst>
              <a:ext uri="{FF2B5EF4-FFF2-40B4-BE49-F238E27FC236}">
                <a16:creationId xmlns:a16="http://schemas.microsoft.com/office/drawing/2014/main" id="{08448DB2-AF0B-4C3E-F29F-45CF56B652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44" t="13877" r="19944" b="13504"/>
          <a:stretch/>
        </p:blipFill>
        <p:spPr bwMode="auto">
          <a:xfrm>
            <a:off x="8386908" y="2462969"/>
            <a:ext cx="3354800" cy="2426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D0FB0E7-59EA-2D6B-3E10-019829A1E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C7F80-EE1A-4CD1-A379-9B77B0EEE16D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37105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1941C76-EE06-1931-6BDD-9851BCD4B73B}"/>
              </a:ext>
            </a:extLst>
          </p:cNvPr>
          <p:cNvCxnSpPr/>
          <p:nvPr/>
        </p:nvCxnSpPr>
        <p:spPr>
          <a:xfrm>
            <a:off x="2069541" y="1796903"/>
            <a:ext cx="72301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804F2100-16B0-9E47-0CAD-89774FAB60A0}"/>
              </a:ext>
            </a:extLst>
          </p:cNvPr>
          <p:cNvCxnSpPr/>
          <p:nvPr/>
        </p:nvCxnSpPr>
        <p:spPr>
          <a:xfrm>
            <a:off x="2431047" y="2721935"/>
            <a:ext cx="72301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E1C6D25F-C58F-4E67-8A51-C0B581FFAC53}"/>
              </a:ext>
            </a:extLst>
          </p:cNvPr>
          <p:cNvCxnSpPr/>
          <p:nvPr/>
        </p:nvCxnSpPr>
        <p:spPr>
          <a:xfrm>
            <a:off x="2431047" y="3657601"/>
            <a:ext cx="72301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AC5340A9-2E98-0030-5FCB-648F67E93BC5}"/>
              </a:ext>
            </a:extLst>
          </p:cNvPr>
          <p:cNvCxnSpPr/>
          <p:nvPr/>
        </p:nvCxnSpPr>
        <p:spPr>
          <a:xfrm>
            <a:off x="2431047" y="4550735"/>
            <a:ext cx="72301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4DA1BB8B-737B-4C48-E6B6-5AC743A8E0A4}"/>
              </a:ext>
            </a:extLst>
          </p:cNvPr>
          <p:cNvCxnSpPr/>
          <p:nvPr/>
        </p:nvCxnSpPr>
        <p:spPr>
          <a:xfrm>
            <a:off x="2069540" y="5528930"/>
            <a:ext cx="72301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>
            <a:extLst>
              <a:ext uri="{FF2B5EF4-FFF2-40B4-BE49-F238E27FC236}">
                <a16:creationId xmlns:a16="http://schemas.microsoft.com/office/drawing/2014/main" id="{5106F6FA-1AD9-4296-EA1F-7F85F751CD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74419" y="12812"/>
            <a:ext cx="4217581" cy="1528909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907A4E7A-A4A1-6DF7-F384-74CDDAF235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-1" y="5695634"/>
            <a:ext cx="2573080" cy="116236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A8370D0-AE95-12D3-9482-CDB2C023E3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7976" y="411651"/>
            <a:ext cx="530548" cy="709148"/>
          </a:xfrm>
          <a:prstGeom prst="rect">
            <a:avLst/>
          </a:prstGeom>
        </p:spPr>
      </p:pic>
      <p:sp>
        <p:nvSpPr>
          <p:cNvPr id="9" name="Rectangle: Top Corners Rounded 8">
            <a:extLst>
              <a:ext uri="{FF2B5EF4-FFF2-40B4-BE49-F238E27FC236}">
                <a16:creationId xmlns:a16="http://schemas.microsoft.com/office/drawing/2014/main" id="{2BCBD057-A411-9CAB-896E-5D7693EC7673}"/>
              </a:ext>
            </a:extLst>
          </p:cNvPr>
          <p:cNvSpPr/>
          <p:nvPr/>
        </p:nvSpPr>
        <p:spPr>
          <a:xfrm rot="16200000">
            <a:off x="6488365" y="-4649291"/>
            <a:ext cx="576238" cy="10831033"/>
          </a:xfrm>
          <a:prstGeom prst="round2Same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91FB7BF-0807-1E37-D118-41FDA181D81C}"/>
              </a:ext>
            </a:extLst>
          </p:cNvPr>
          <p:cNvSpPr txBox="1">
            <a:spLocks/>
          </p:cNvSpPr>
          <p:nvPr/>
        </p:nvSpPr>
        <p:spPr>
          <a:xfrm>
            <a:off x="1639006" y="560700"/>
            <a:ext cx="10102702" cy="4535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Differential Analysis</a:t>
            </a:r>
            <a:endParaRPr lang="en-IN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Block Arc 17">
            <a:extLst>
              <a:ext uri="{FF2B5EF4-FFF2-40B4-BE49-F238E27FC236}">
                <a16:creationId xmlns:a16="http://schemas.microsoft.com/office/drawing/2014/main" id="{911E3D9B-79EC-9087-C6C3-EFA5C2C8478B}"/>
              </a:ext>
            </a:extLst>
          </p:cNvPr>
          <p:cNvSpPr/>
          <p:nvPr/>
        </p:nvSpPr>
        <p:spPr>
          <a:xfrm>
            <a:off x="-3097169" y="1025961"/>
            <a:ext cx="5392559" cy="5392559"/>
          </a:xfrm>
          <a:prstGeom prst="blockArc">
            <a:avLst>
              <a:gd name="adj1" fmla="val 16678557"/>
              <a:gd name="adj2" fmla="val 2966566"/>
              <a:gd name="adj3" fmla="val 0"/>
            </a:avLst>
          </a:prstGeom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565975E-11F3-B458-2D02-50693AD6C920}"/>
              </a:ext>
            </a:extLst>
          </p:cNvPr>
          <p:cNvSpPr/>
          <p:nvPr/>
        </p:nvSpPr>
        <p:spPr>
          <a:xfrm>
            <a:off x="2651284" y="1462222"/>
            <a:ext cx="8502272" cy="75491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3624BC2-0F19-3DDB-D004-70A83D3CAD2C}"/>
              </a:ext>
            </a:extLst>
          </p:cNvPr>
          <p:cNvSpPr txBox="1"/>
          <p:nvPr/>
        </p:nvSpPr>
        <p:spPr>
          <a:xfrm>
            <a:off x="2792554" y="1547291"/>
            <a:ext cx="18068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Statistical Analysis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7DA6696-F8BF-1331-6160-2584FFE48FC8}"/>
              </a:ext>
            </a:extLst>
          </p:cNvPr>
          <p:cNvSpPr txBox="1"/>
          <p:nvPr/>
        </p:nvSpPr>
        <p:spPr>
          <a:xfrm>
            <a:off x="4931664" y="1470346"/>
            <a:ext cx="553077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Use appropriate statistical tests to compare immune cell profiles between disease states​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Identify features showing significant differential expression​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7F48A61-7ADE-018E-C5A4-731157432215}"/>
              </a:ext>
            </a:extLst>
          </p:cNvPr>
          <p:cNvCxnSpPr>
            <a:cxnSpLocks/>
          </p:cNvCxnSpPr>
          <p:nvPr/>
        </p:nvCxnSpPr>
        <p:spPr>
          <a:xfrm>
            <a:off x="4682099" y="1568531"/>
            <a:ext cx="0" cy="542295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9D7CD8B3-C157-876F-4635-1467C34EFFE2}"/>
              </a:ext>
            </a:extLst>
          </p:cNvPr>
          <p:cNvSpPr/>
          <p:nvPr/>
        </p:nvSpPr>
        <p:spPr>
          <a:xfrm>
            <a:off x="1485356" y="1526744"/>
            <a:ext cx="625869" cy="62586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3F72C72C-963B-A55A-A6CB-20B2F628A99C}"/>
              </a:ext>
            </a:extLst>
          </p:cNvPr>
          <p:cNvSpPr/>
          <p:nvPr/>
        </p:nvSpPr>
        <p:spPr>
          <a:xfrm>
            <a:off x="2651284" y="2382078"/>
            <a:ext cx="8502272" cy="75491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F229E04-608E-53B5-22BA-83317C842D61}"/>
              </a:ext>
            </a:extLst>
          </p:cNvPr>
          <p:cNvSpPr txBox="1"/>
          <p:nvPr/>
        </p:nvSpPr>
        <p:spPr>
          <a:xfrm>
            <a:off x="2792554" y="2467147"/>
            <a:ext cx="18068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Prioritization of Biomarkers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1DDEFA2-59A0-1D96-DD50-E72A69A6281D}"/>
              </a:ext>
            </a:extLst>
          </p:cNvPr>
          <p:cNvSpPr txBox="1"/>
          <p:nvPr/>
        </p:nvSpPr>
        <p:spPr>
          <a:xfrm>
            <a:off x="4931664" y="2497924"/>
            <a:ext cx="5307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Focus on markers indicative of disease activity​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Prioritize biomarkers known to play a role in RA pathogenesis​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7E94CFE-24D9-4379-5073-B37B0CC886D5}"/>
              </a:ext>
            </a:extLst>
          </p:cNvPr>
          <p:cNvCxnSpPr>
            <a:cxnSpLocks/>
          </p:cNvCxnSpPr>
          <p:nvPr/>
        </p:nvCxnSpPr>
        <p:spPr>
          <a:xfrm>
            <a:off x="4682099" y="2488387"/>
            <a:ext cx="0" cy="542295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A234567F-70DB-CCC0-5E4C-F188EF07FD17}"/>
              </a:ext>
            </a:extLst>
          </p:cNvPr>
          <p:cNvSpPr/>
          <p:nvPr/>
        </p:nvSpPr>
        <p:spPr>
          <a:xfrm>
            <a:off x="1844140" y="2446600"/>
            <a:ext cx="625869" cy="62586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DCFA3715-AD56-DEAE-5014-1BA6E7277F04}"/>
              </a:ext>
            </a:extLst>
          </p:cNvPr>
          <p:cNvSpPr/>
          <p:nvPr/>
        </p:nvSpPr>
        <p:spPr>
          <a:xfrm>
            <a:off x="2651284" y="3301934"/>
            <a:ext cx="8502272" cy="75491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15D95AF-FFB4-E82B-3F5D-654D187A3C51}"/>
              </a:ext>
            </a:extLst>
          </p:cNvPr>
          <p:cNvSpPr txBox="1"/>
          <p:nvPr/>
        </p:nvSpPr>
        <p:spPr>
          <a:xfrm>
            <a:off x="2792554" y="3510113"/>
            <a:ext cx="18068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Validation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3874E67-DD31-E9F4-F695-04EB5D3B702D}"/>
              </a:ext>
            </a:extLst>
          </p:cNvPr>
          <p:cNvSpPr txBox="1"/>
          <p:nvPr/>
        </p:nvSpPr>
        <p:spPr>
          <a:xfrm>
            <a:off x="4931664" y="3417780"/>
            <a:ext cx="55187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Validate identified biomarkers using independent datasets or experimental validation techniques​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FD1A8708-10B9-AC24-D9E6-B1D8A431B109}"/>
              </a:ext>
            </a:extLst>
          </p:cNvPr>
          <p:cNvCxnSpPr>
            <a:cxnSpLocks/>
          </p:cNvCxnSpPr>
          <p:nvPr/>
        </p:nvCxnSpPr>
        <p:spPr>
          <a:xfrm>
            <a:off x="4682099" y="3408243"/>
            <a:ext cx="0" cy="542295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5B4EB422-035D-DBA0-3F28-A2814C87D9B5}"/>
              </a:ext>
            </a:extLst>
          </p:cNvPr>
          <p:cNvSpPr/>
          <p:nvPr/>
        </p:nvSpPr>
        <p:spPr>
          <a:xfrm>
            <a:off x="1954258" y="3366456"/>
            <a:ext cx="625869" cy="62586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7F105BF7-B756-15DF-268E-FD8BA1494C36}"/>
              </a:ext>
            </a:extLst>
          </p:cNvPr>
          <p:cNvSpPr/>
          <p:nvPr/>
        </p:nvSpPr>
        <p:spPr>
          <a:xfrm>
            <a:off x="2651284" y="4221790"/>
            <a:ext cx="8502272" cy="75491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17830D3-B083-8BA1-A07C-DF7D753B5A49}"/>
              </a:ext>
            </a:extLst>
          </p:cNvPr>
          <p:cNvSpPr txBox="1"/>
          <p:nvPr/>
        </p:nvSpPr>
        <p:spPr>
          <a:xfrm>
            <a:off x="2792554" y="4306859"/>
            <a:ext cx="18068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Functional Analysis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06C535E-83A2-BADC-7BFD-E17A15310AFA}"/>
              </a:ext>
            </a:extLst>
          </p:cNvPr>
          <p:cNvSpPr txBox="1"/>
          <p:nvPr/>
        </p:nvSpPr>
        <p:spPr>
          <a:xfrm>
            <a:off x="4931664" y="4337636"/>
            <a:ext cx="55187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Investigate biological functions and pathways associated with identified biomarkers​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1F7890A3-5D3D-B4E4-B4BC-CD3F120663FF}"/>
              </a:ext>
            </a:extLst>
          </p:cNvPr>
          <p:cNvCxnSpPr>
            <a:cxnSpLocks/>
          </p:cNvCxnSpPr>
          <p:nvPr/>
        </p:nvCxnSpPr>
        <p:spPr>
          <a:xfrm>
            <a:off x="4682099" y="4328099"/>
            <a:ext cx="0" cy="542295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77E0EBB4-14EE-4F87-0A11-9C650E1B7FB3}"/>
              </a:ext>
            </a:extLst>
          </p:cNvPr>
          <p:cNvSpPr/>
          <p:nvPr/>
        </p:nvSpPr>
        <p:spPr>
          <a:xfrm>
            <a:off x="1844140" y="4286312"/>
            <a:ext cx="625869" cy="62586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C7B0D713-4041-6A49-8EB4-C2F7F9A06C67}"/>
              </a:ext>
            </a:extLst>
          </p:cNvPr>
          <p:cNvSpPr/>
          <p:nvPr/>
        </p:nvSpPr>
        <p:spPr>
          <a:xfrm>
            <a:off x="2651284" y="5141648"/>
            <a:ext cx="8502272" cy="75491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E1D6D80-1FC6-84CF-EB19-FCCECFA5D9FC}"/>
              </a:ext>
            </a:extLst>
          </p:cNvPr>
          <p:cNvSpPr txBox="1"/>
          <p:nvPr/>
        </p:nvSpPr>
        <p:spPr>
          <a:xfrm>
            <a:off x="2792554" y="5226717"/>
            <a:ext cx="18068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Integration with Clinical Data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AB1A692-B35B-C4BF-B73D-25A46965F13F}"/>
              </a:ext>
            </a:extLst>
          </p:cNvPr>
          <p:cNvSpPr txBox="1"/>
          <p:nvPr/>
        </p:nvSpPr>
        <p:spPr>
          <a:xfrm>
            <a:off x="4931664" y="5257494"/>
            <a:ext cx="55187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Integrate biomarker data with clinical data to assess clinical relevance and predictive value​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9CAB1456-09AC-F450-432C-5AC71BF231F2}"/>
              </a:ext>
            </a:extLst>
          </p:cNvPr>
          <p:cNvCxnSpPr>
            <a:cxnSpLocks/>
          </p:cNvCxnSpPr>
          <p:nvPr/>
        </p:nvCxnSpPr>
        <p:spPr>
          <a:xfrm>
            <a:off x="4682099" y="5247957"/>
            <a:ext cx="0" cy="542295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4A7BBBC8-657D-AFBA-B5AF-66251631291C}"/>
              </a:ext>
            </a:extLst>
          </p:cNvPr>
          <p:cNvSpPr/>
          <p:nvPr/>
        </p:nvSpPr>
        <p:spPr>
          <a:xfrm>
            <a:off x="1485356" y="5206170"/>
            <a:ext cx="625869" cy="62586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2" name="Isosceles Triangle 1">
            <a:extLst>
              <a:ext uri="{FF2B5EF4-FFF2-40B4-BE49-F238E27FC236}">
                <a16:creationId xmlns:a16="http://schemas.microsoft.com/office/drawing/2014/main" id="{8DDD134F-B593-4BAA-ED51-DB22D327EF53}"/>
              </a:ext>
            </a:extLst>
          </p:cNvPr>
          <p:cNvSpPr/>
          <p:nvPr/>
        </p:nvSpPr>
        <p:spPr>
          <a:xfrm rot="14298398">
            <a:off x="1186431" y="5713194"/>
            <a:ext cx="228050" cy="19659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50E5355-126E-6FBB-CC4D-74F6A99A4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C7F80-EE1A-4CD1-A379-9B77B0EEE16D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70828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5106F6FA-1AD9-4296-EA1F-7F85F751CD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74419" y="12812"/>
            <a:ext cx="4217581" cy="1528909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907A4E7A-A4A1-6DF7-F384-74CDDAF235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-1" y="5695634"/>
            <a:ext cx="2573080" cy="116236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A8370D0-AE95-12D3-9482-CDB2C023E3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7976" y="411651"/>
            <a:ext cx="530548" cy="709148"/>
          </a:xfrm>
          <a:prstGeom prst="rect">
            <a:avLst/>
          </a:prstGeom>
        </p:spPr>
      </p:pic>
      <p:sp>
        <p:nvSpPr>
          <p:cNvPr id="9" name="Rectangle: Top Corners Rounded 8">
            <a:extLst>
              <a:ext uri="{FF2B5EF4-FFF2-40B4-BE49-F238E27FC236}">
                <a16:creationId xmlns:a16="http://schemas.microsoft.com/office/drawing/2014/main" id="{2BCBD057-A411-9CAB-896E-5D7693EC7673}"/>
              </a:ext>
            </a:extLst>
          </p:cNvPr>
          <p:cNvSpPr/>
          <p:nvPr/>
        </p:nvSpPr>
        <p:spPr>
          <a:xfrm rot="16200000">
            <a:off x="6488365" y="-4649291"/>
            <a:ext cx="576238" cy="10831033"/>
          </a:xfrm>
          <a:prstGeom prst="round2Same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91FB7BF-0807-1E37-D118-41FDA181D81C}"/>
              </a:ext>
            </a:extLst>
          </p:cNvPr>
          <p:cNvSpPr txBox="1">
            <a:spLocks/>
          </p:cNvSpPr>
          <p:nvPr/>
        </p:nvSpPr>
        <p:spPr>
          <a:xfrm>
            <a:off x="1639006" y="560700"/>
            <a:ext cx="10102702" cy="4535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Timeline</a:t>
            </a:r>
            <a:endParaRPr lang="en-IN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624060B-5968-BE7B-DCD9-3F1AD82F636B}"/>
              </a:ext>
            </a:extLst>
          </p:cNvPr>
          <p:cNvSpPr/>
          <p:nvPr/>
        </p:nvSpPr>
        <p:spPr>
          <a:xfrm>
            <a:off x="1116418" y="5553338"/>
            <a:ext cx="10361195" cy="98368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 fontAlgn="base"/>
            <a:r>
              <a:rPr lang="en-IN" sz="1800" b="0" i="0" u="none" strike="noStrike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</a:rPr>
              <a:t>Expected results:</a:t>
            </a:r>
            <a:r>
              <a:rPr lang="en-US" sz="1800" b="0" i="0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</a:rPr>
              <a:t>​</a:t>
            </a:r>
            <a:endParaRPr lang="en-US" b="0" i="0" dirty="0"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IN" sz="1800" b="0" i="0" u="none" strike="noStrike" dirty="0">
                <a:solidFill>
                  <a:srgbClr val="0D0D0D"/>
                </a:solidFill>
                <a:effectLst/>
                <a:latin typeface="Segoe UI" panose="020B0502040204020203" pitchFamily="34" charset="0"/>
              </a:rPr>
              <a:t>Prediction models for RA flares based on identified biomarkers</a:t>
            </a:r>
            <a:r>
              <a:rPr lang="en-IN" sz="1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​</a:t>
            </a:r>
            <a:endParaRPr lang="en-IN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IN" sz="1800" b="0" i="0" u="none" strike="noStrike" dirty="0">
                <a:solidFill>
                  <a:srgbClr val="0D0D0D"/>
                </a:solidFill>
                <a:effectLst/>
                <a:latin typeface="Segoe UI" panose="020B0502040204020203" pitchFamily="34" charset="0"/>
              </a:rPr>
              <a:t>Personalized treatment approaches</a:t>
            </a:r>
            <a:endParaRPr lang="en-IN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EAD94D4-A467-F1BA-B634-F005703CCC28}"/>
              </a:ext>
            </a:extLst>
          </p:cNvPr>
          <p:cNvCxnSpPr>
            <a:cxnSpLocks/>
          </p:cNvCxnSpPr>
          <p:nvPr/>
        </p:nvCxnSpPr>
        <p:spPr>
          <a:xfrm>
            <a:off x="992602" y="5586256"/>
            <a:ext cx="0" cy="917852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A561D088-8382-9A7E-D9D5-3A997852D5BD}"/>
              </a:ext>
            </a:extLst>
          </p:cNvPr>
          <p:cNvGrpSpPr/>
          <p:nvPr/>
        </p:nvGrpSpPr>
        <p:grpSpPr>
          <a:xfrm>
            <a:off x="973551" y="1244338"/>
            <a:ext cx="10504074" cy="4191922"/>
            <a:chOff x="973551" y="1244338"/>
            <a:chExt cx="10504074" cy="419192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EF58579-FD30-2A31-6F70-D3BC38F59B50}"/>
                </a:ext>
              </a:extLst>
            </p:cNvPr>
            <p:cNvSpPr/>
            <p:nvPr/>
          </p:nvSpPr>
          <p:spPr>
            <a:xfrm>
              <a:off x="973551" y="1785916"/>
              <a:ext cx="10504065" cy="365034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Rectangle: Top Corners Rounded 4">
              <a:extLst>
                <a:ext uri="{FF2B5EF4-FFF2-40B4-BE49-F238E27FC236}">
                  <a16:creationId xmlns:a16="http://schemas.microsoft.com/office/drawing/2014/main" id="{FA02A2AB-25D2-6B28-F15A-AA27898C2D3D}"/>
                </a:ext>
              </a:extLst>
            </p:cNvPr>
            <p:cNvSpPr/>
            <p:nvPr/>
          </p:nvSpPr>
          <p:spPr>
            <a:xfrm>
              <a:off x="1059277" y="1244338"/>
              <a:ext cx="1761231" cy="541578"/>
            </a:xfrm>
            <a:prstGeom prst="round2Same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Task</a:t>
              </a:r>
            </a:p>
          </p:txBody>
        </p:sp>
        <p:sp>
          <p:nvSpPr>
            <p:cNvPr id="11" name="Rectangle: Top Corners Rounded 10">
              <a:extLst>
                <a:ext uri="{FF2B5EF4-FFF2-40B4-BE49-F238E27FC236}">
                  <a16:creationId xmlns:a16="http://schemas.microsoft.com/office/drawing/2014/main" id="{98F25AB3-7040-F92D-FE82-E7F8885D523F}"/>
                </a:ext>
              </a:extLst>
            </p:cNvPr>
            <p:cNvSpPr/>
            <p:nvPr/>
          </p:nvSpPr>
          <p:spPr>
            <a:xfrm>
              <a:off x="2934269" y="1244338"/>
              <a:ext cx="1179172" cy="275301"/>
            </a:xfrm>
            <a:prstGeom prst="round2Same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April</a:t>
              </a:r>
            </a:p>
          </p:txBody>
        </p:sp>
        <p:sp>
          <p:nvSpPr>
            <p:cNvPr id="23" name="Rectangle: Top Corners Rounded 22">
              <a:extLst>
                <a:ext uri="{FF2B5EF4-FFF2-40B4-BE49-F238E27FC236}">
                  <a16:creationId xmlns:a16="http://schemas.microsoft.com/office/drawing/2014/main" id="{33A7106F-A0E0-7E18-677E-BF90C0767310}"/>
                </a:ext>
              </a:extLst>
            </p:cNvPr>
            <p:cNvSpPr/>
            <p:nvPr/>
          </p:nvSpPr>
          <p:spPr>
            <a:xfrm>
              <a:off x="4147789" y="1244338"/>
              <a:ext cx="1179172" cy="275301"/>
            </a:xfrm>
            <a:prstGeom prst="round2Same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May</a:t>
              </a:r>
            </a:p>
          </p:txBody>
        </p:sp>
        <p:sp>
          <p:nvSpPr>
            <p:cNvPr id="31" name="Rectangle: Top Corners Rounded 30">
              <a:extLst>
                <a:ext uri="{FF2B5EF4-FFF2-40B4-BE49-F238E27FC236}">
                  <a16:creationId xmlns:a16="http://schemas.microsoft.com/office/drawing/2014/main" id="{F6FEBFE8-9426-D16F-BE43-40198A4DF98A}"/>
                </a:ext>
              </a:extLst>
            </p:cNvPr>
            <p:cNvSpPr/>
            <p:nvPr/>
          </p:nvSpPr>
          <p:spPr>
            <a:xfrm>
              <a:off x="5361308" y="1244338"/>
              <a:ext cx="1179172" cy="275301"/>
            </a:xfrm>
            <a:prstGeom prst="round2Same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June</a:t>
              </a:r>
            </a:p>
          </p:txBody>
        </p:sp>
        <p:sp>
          <p:nvSpPr>
            <p:cNvPr id="39" name="Rectangle: Top Corners Rounded 38">
              <a:extLst>
                <a:ext uri="{FF2B5EF4-FFF2-40B4-BE49-F238E27FC236}">
                  <a16:creationId xmlns:a16="http://schemas.microsoft.com/office/drawing/2014/main" id="{969A37F5-F7B7-4CA7-3AAF-26033625BC49}"/>
                </a:ext>
              </a:extLst>
            </p:cNvPr>
            <p:cNvSpPr/>
            <p:nvPr/>
          </p:nvSpPr>
          <p:spPr>
            <a:xfrm>
              <a:off x="6574827" y="1244338"/>
              <a:ext cx="1179172" cy="275301"/>
            </a:xfrm>
            <a:prstGeom prst="round2Same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July</a:t>
              </a:r>
            </a:p>
          </p:txBody>
        </p:sp>
        <p:sp>
          <p:nvSpPr>
            <p:cNvPr id="47" name="Rectangle: Top Corners Rounded 46">
              <a:extLst>
                <a:ext uri="{FF2B5EF4-FFF2-40B4-BE49-F238E27FC236}">
                  <a16:creationId xmlns:a16="http://schemas.microsoft.com/office/drawing/2014/main" id="{A353305A-7088-CA71-8635-7B457230215D}"/>
                </a:ext>
              </a:extLst>
            </p:cNvPr>
            <p:cNvSpPr/>
            <p:nvPr/>
          </p:nvSpPr>
          <p:spPr>
            <a:xfrm>
              <a:off x="7788347" y="1244338"/>
              <a:ext cx="1179172" cy="275301"/>
            </a:xfrm>
            <a:prstGeom prst="round2Same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August</a:t>
              </a:r>
            </a:p>
          </p:txBody>
        </p:sp>
        <p:sp>
          <p:nvSpPr>
            <p:cNvPr id="55" name="Rectangle: Top Corners Rounded 54">
              <a:extLst>
                <a:ext uri="{FF2B5EF4-FFF2-40B4-BE49-F238E27FC236}">
                  <a16:creationId xmlns:a16="http://schemas.microsoft.com/office/drawing/2014/main" id="{E38C697C-2539-BB54-3349-66398CF23329}"/>
                </a:ext>
              </a:extLst>
            </p:cNvPr>
            <p:cNvSpPr/>
            <p:nvPr/>
          </p:nvSpPr>
          <p:spPr>
            <a:xfrm>
              <a:off x="9001867" y="1244338"/>
              <a:ext cx="1179172" cy="275301"/>
            </a:xfrm>
            <a:prstGeom prst="round2Same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tlCol="0" anchor="ctr"/>
            <a:lstStyle/>
            <a:p>
              <a:pPr algn="ctr"/>
              <a:r>
                <a:rPr lang="en-IN" dirty="0"/>
                <a:t>September</a:t>
              </a:r>
            </a:p>
          </p:txBody>
        </p:sp>
        <p:sp>
          <p:nvSpPr>
            <p:cNvPr id="63" name="Rectangle: Top Corners Rounded 62">
              <a:extLst>
                <a:ext uri="{FF2B5EF4-FFF2-40B4-BE49-F238E27FC236}">
                  <a16:creationId xmlns:a16="http://schemas.microsoft.com/office/drawing/2014/main" id="{617E564F-C3FB-CBD8-0C1D-FC41415954C7}"/>
                </a:ext>
              </a:extLst>
            </p:cNvPr>
            <p:cNvSpPr/>
            <p:nvPr/>
          </p:nvSpPr>
          <p:spPr>
            <a:xfrm>
              <a:off x="10215386" y="1244338"/>
              <a:ext cx="1179172" cy="275301"/>
            </a:xfrm>
            <a:prstGeom prst="round2Same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October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7993666-4CB8-8BC5-F4BC-C9B9AE25D206}"/>
                </a:ext>
              </a:extLst>
            </p:cNvPr>
            <p:cNvSpPr/>
            <p:nvPr/>
          </p:nvSpPr>
          <p:spPr>
            <a:xfrm>
              <a:off x="2953732" y="1554411"/>
              <a:ext cx="264886" cy="1967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W1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92F6146-20D0-92F8-0390-E6D5F18E98FC}"/>
                </a:ext>
              </a:extLst>
            </p:cNvPr>
            <p:cNvSpPr/>
            <p:nvPr/>
          </p:nvSpPr>
          <p:spPr>
            <a:xfrm>
              <a:off x="3257544" y="1554411"/>
              <a:ext cx="264886" cy="1967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W2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EB870BD-99C4-1C64-A103-3F3239EA5105}"/>
                </a:ext>
              </a:extLst>
            </p:cNvPr>
            <p:cNvSpPr/>
            <p:nvPr/>
          </p:nvSpPr>
          <p:spPr>
            <a:xfrm>
              <a:off x="3561356" y="1554411"/>
              <a:ext cx="264886" cy="1967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W3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C3A39DA-9B8C-80F2-EF2A-0774899E519B}"/>
                </a:ext>
              </a:extLst>
            </p:cNvPr>
            <p:cNvSpPr/>
            <p:nvPr/>
          </p:nvSpPr>
          <p:spPr>
            <a:xfrm>
              <a:off x="3865168" y="1554411"/>
              <a:ext cx="264886" cy="1967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W4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5EFB88AE-AD99-B83F-D5F4-22A883AB10B8}"/>
                </a:ext>
              </a:extLst>
            </p:cNvPr>
            <p:cNvSpPr/>
            <p:nvPr/>
          </p:nvSpPr>
          <p:spPr>
            <a:xfrm>
              <a:off x="4168980" y="1554411"/>
              <a:ext cx="199722" cy="1967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W1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5401458-B5AF-D157-8D7F-B706B0AA7C1E}"/>
                </a:ext>
              </a:extLst>
            </p:cNvPr>
            <p:cNvSpPr/>
            <p:nvPr/>
          </p:nvSpPr>
          <p:spPr>
            <a:xfrm>
              <a:off x="4407628" y="1554411"/>
              <a:ext cx="199722" cy="1967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W2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7115A6E-F0C9-03A7-E8F3-03CA749A2D9F}"/>
                </a:ext>
              </a:extLst>
            </p:cNvPr>
            <p:cNvSpPr/>
            <p:nvPr/>
          </p:nvSpPr>
          <p:spPr>
            <a:xfrm>
              <a:off x="4646276" y="1554411"/>
              <a:ext cx="199722" cy="1967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W3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BCF66425-2C9C-7EEA-D2CD-5FC7318F541B}"/>
                </a:ext>
              </a:extLst>
            </p:cNvPr>
            <p:cNvSpPr/>
            <p:nvPr/>
          </p:nvSpPr>
          <p:spPr>
            <a:xfrm>
              <a:off x="4884924" y="1554411"/>
              <a:ext cx="199722" cy="1967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W4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9A77A14-127C-224B-E156-9FC36D7ECA65}"/>
                </a:ext>
              </a:extLst>
            </p:cNvPr>
            <p:cNvSpPr/>
            <p:nvPr/>
          </p:nvSpPr>
          <p:spPr>
            <a:xfrm>
              <a:off x="5123572" y="1554411"/>
              <a:ext cx="199722" cy="1967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W5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E13E9019-B895-DA70-3D6B-310D1E0D8C51}"/>
                </a:ext>
              </a:extLst>
            </p:cNvPr>
            <p:cNvSpPr/>
            <p:nvPr/>
          </p:nvSpPr>
          <p:spPr>
            <a:xfrm>
              <a:off x="5362220" y="1554411"/>
              <a:ext cx="264886" cy="1967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W1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3F2F60EA-8484-6AC6-C7C4-C8FE3EF3B886}"/>
                </a:ext>
              </a:extLst>
            </p:cNvPr>
            <p:cNvSpPr/>
            <p:nvPr/>
          </p:nvSpPr>
          <p:spPr>
            <a:xfrm>
              <a:off x="5666032" y="1554411"/>
              <a:ext cx="264886" cy="1967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W2</a:t>
              </a: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11E98A55-DADE-F265-F4E1-EB7BA73F884A}"/>
                </a:ext>
              </a:extLst>
            </p:cNvPr>
            <p:cNvSpPr/>
            <p:nvPr/>
          </p:nvSpPr>
          <p:spPr>
            <a:xfrm>
              <a:off x="5969844" y="1554411"/>
              <a:ext cx="264886" cy="1967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W3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ECBE70B0-1571-2190-EFEB-0EFF8D43893D}"/>
                </a:ext>
              </a:extLst>
            </p:cNvPr>
            <p:cNvSpPr/>
            <p:nvPr/>
          </p:nvSpPr>
          <p:spPr>
            <a:xfrm>
              <a:off x="6273656" y="1554411"/>
              <a:ext cx="264886" cy="1967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W4</a:t>
              </a: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C52ADC87-0FE9-0411-EA54-5E4E8D5A3343}"/>
                </a:ext>
              </a:extLst>
            </p:cNvPr>
            <p:cNvSpPr/>
            <p:nvPr/>
          </p:nvSpPr>
          <p:spPr>
            <a:xfrm>
              <a:off x="6577468" y="1554411"/>
              <a:ext cx="264886" cy="1967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W1</a:t>
              </a: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02FC6BC3-3EC7-F386-C146-0F561F4E7E2B}"/>
                </a:ext>
              </a:extLst>
            </p:cNvPr>
            <p:cNvSpPr/>
            <p:nvPr/>
          </p:nvSpPr>
          <p:spPr>
            <a:xfrm>
              <a:off x="6881280" y="1554411"/>
              <a:ext cx="264886" cy="1967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W2</a:t>
              </a: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A1247489-A9F7-277D-933E-440E5F6AB837}"/>
                </a:ext>
              </a:extLst>
            </p:cNvPr>
            <p:cNvSpPr/>
            <p:nvPr/>
          </p:nvSpPr>
          <p:spPr>
            <a:xfrm>
              <a:off x="7185092" y="1554411"/>
              <a:ext cx="264886" cy="1967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W3</a:t>
              </a: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4F4F0555-8C09-3015-1CD1-C4A9FCE4724D}"/>
                </a:ext>
              </a:extLst>
            </p:cNvPr>
            <p:cNvSpPr/>
            <p:nvPr/>
          </p:nvSpPr>
          <p:spPr>
            <a:xfrm>
              <a:off x="7488904" y="1554411"/>
              <a:ext cx="264886" cy="1967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W4</a:t>
              </a: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911D1DA4-69C0-F7AA-3389-8C8C9D65B471}"/>
                </a:ext>
              </a:extLst>
            </p:cNvPr>
            <p:cNvSpPr/>
            <p:nvPr/>
          </p:nvSpPr>
          <p:spPr>
            <a:xfrm>
              <a:off x="7792716" y="1554411"/>
              <a:ext cx="199722" cy="1967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W1</a:t>
              </a: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C4A5586B-0592-977A-A322-F38453A9796E}"/>
                </a:ext>
              </a:extLst>
            </p:cNvPr>
            <p:cNvSpPr/>
            <p:nvPr/>
          </p:nvSpPr>
          <p:spPr>
            <a:xfrm>
              <a:off x="8031364" y="1554411"/>
              <a:ext cx="199722" cy="1967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W2</a:t>
              </a: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22D836BF-D689-80DD-DFC7-F03801152DE8}"/>
                </a:ext>
              </a:extLst>
            </p:cNvPr>
            <p:cNvSpPr/>
            <p:nvPr/>
          </p:nvSpPr>
          <p:spPr>
            <a:xfrm>
              <a:off x="8270012" y="1554411"/>
              <a:ext cx="199722" cy="1967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W3</a:t>
              </a: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BBDB1821-A449-01F4-9618-CB5C8160C0CA}"/>
                </a:ext>
              </a:extLst>
            </p:cNvPr>
            <p:cNvSpPr/>
            <p:nvPr/>
          </p:nvSpPr>
          <p:spPr>
            <a:xfrm>
              <a:off x="8508660" y="1554411"/>
              <a:ext cx="199722" cy="1967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W4</a:t>
              </a: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1FEE609D-E478-706A-C1F0-F18CFE9F8C35}"/>
                </a:ext>
              </a:extLst>
            </p:cNvPr>
            <p:cNvSpPr/>
            <p:nvPr/>
          </p:nvSpPr>
          <p:spPr>
            <a:xfrm>
              <a:off x="8747308" y="1554411"/>
              <a:ext cx="199722" cy="1967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W5</a:t>
              </a: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EC21688D-DE76-7589-0356-F298B85D2C6C}"/>
                </a:ext>
              </a:extLst>
            </p:cNvPr>
            <p:cNvSpPr/>
            <p:nvPr/>
          </p:nvSpPr>
          <p:spPr>
            <a:xfrm>
              <a:off x="8985956" y="1554411"/>
              <a:ext cx="264886" cy="1967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W1</a:t>
              </a: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DBB2ACC6-2C30-8701-ACF3-BAF3BCCA6FE2}"/>
                </a:ext>
              </a:extLst>
            </p:cNvPr>
            <p:cNvSpPr/>
            <p:nvPr/>
          </p:nvSpPr>
          <p:spPr>
            <a:xfrm>
              <a:off x="9289768" y="1554411"/>
              <a:ext cx="264886" cy="1967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W2</a:t>
              </a: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1A7A9077-9F8B-5BFB-A058-492CC473F7D4}"/>
                </a:ext>
              </a:extLst>
            </p:cNvPr>
            <p:cNvSpPr/>
            <p:nvPr/>
          </p:nvSpPr>
          <p:spPr>
            <a:xfrm>
              <a:off x="9593580" y="1554411"/>
              <a:ext cx="264886" cy="1967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W3</a:t>
              </a: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0ED54D3C-58F3-785F-FD34-AEE41997F370}"/>
                </a:ext>
              </a:extLst>
            </p:cNvPr>
            <p:cNvSpPr/>
            <p:nvPr/>
          </p:nvSpPr>
          <p:spPr>
            <a:xfrm>
              <a:off x="9897392" y="1554411"/>
              <a:ext cx="264886" cy="1967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W4</a:t>
              </a: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74DFD49C-E655-17FA-CF24-F63F409AB2EA}"/>
                </a:ext>
              </a:extLst>
            </p:cNvPr>
            <p:cNvSpPr/>
            <p:nvPr/>
          </p:nvSpPr>
          <p:spPr>
            <a:xfrm>
              <a:off x="10201204" y="1554411"/>
              <a:ext cx="264886" cy="1967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W1</a:t>
              </a: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39E75729-2D2F-256F-4280-1AFAABE742A9}"/>
                </a:ext>
              </a:extLst>
            </p:cNvPr>
            <p:cNvSpPr/>
            <p:nvPr/>
          </p:nvSpPr>
          <p:spPr>
            <a:xfrm>
              <a:off x="10505016" y="1554411"/>
              <a:ext cx="264886" cy="1967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W2</a:t>
              </a: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539B22F9-ACBC-0723-EB06-65DB29A4412A}"/>
                </a:ext>
              </a:extLst>
            </p:cNvPr>
            <p:cNvSpPr/>
            <p:nvPr/>
          </p:nvSpPr>
          <p:spPr>
            <a:xfrm>
              <a:off x="10808828" y="1554411"/>
              <a:ext cx="264886" cy="1967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W3</a:t>
              </a: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76CC127D-9893-618F-E72B-6F330BCF6785}"/>
                </a:ext>
              </a:extLst>
            </p:cNvPr>
            <p:cNvSpPr/>
            <p:nvPr/>
          </p:nvSpPr>
          <p:spPr>
            <a:xfrm>
              <a:off x="11112614" y="1554411"/>
              <a:ext cx="264886" cy="1967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W4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BF31152B-61D4-FA18-3D34-81324633B533}"/>
                </a:ext>
              </a:extLst>
            </p:cNvPr>
            <p:cNvSpPr txBox="1"/>
            <p:nvPr/>
          </p:nvSpPr>
          <p:spPr>
            <a:xfrm>
              <a:off x="1069350" y="1860624"/>
              <a:ext cx="1741632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IN" sz="1200" b="0" i="0" u="none" strike="noStrike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Literature Review</a:t>
              </a:r>
              <a:endParaRPr lang="en-IN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DA355D41-49D6-960E-9447-13247A9C6366}"/>
                </a:ext>
              </a:extLst>
            </p:cNvPr>
            <p:cNvSpPr txBox="1"/>
            <p:nvPr/>
          </p:nvSpPr>
          <p:spPr>
            <a:xfrm>
              <a:off x="1069350" y="2094972"/>
              <a:ext cx="1741632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IN" sz="1200" b="0" i="0" u="none" strike="noStrike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Data Collection</a:t>
              </a:r>
              <a:endParaRPr lang="en-IN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9B18548E-A144-B948-4BAE-98535CA23BFE}"/>
                </a:ext>
              </a:extLst>
            </p:cNvPr>
            <p:cNvSpPr txBox="1"/>
            <p:nvPr/>
          </p:nvSpPr>
          <p:spPr>
            <a:xfrm>
              <a:off x="1069350" y="2329320"/>
              <a:ext cx="1741631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IN" sz="1200" b="0" i="0" u="none" strike="noStrike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Data Preprocessing </a:t>
              </a:r>
              <a:br>
                <a:rPr lang="en-IN" sz="1200" b="0" i="0" u="none" strike="noStrike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IN" sz="1200" b="0" i="0" u="none" strike="noStrike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and Cleaning</a:t>
              </a:r>
              <a:endParaRPr lang="en-IN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6D79C71A-CB98-B5F7-EA4F-AA139FFBE3CB}"/>
                </a:ext>
              </a:extLst>
            </p:cNvPr>
            <p:cNvSpPr txBox="1"/>
            <p:nvPr/>
          </p:nvSpPr>
          <p:spPr>
            <a:xfrm>
              <a:off x="1069350" y="2748334"/>
              <a:ext cx="1552482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IN" sz="1200" b="0" i="0" u="none" strike="noStrike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Exploratory Data Analysis</a:t>
              </a:r>
              <a:endParaRPr lang="en-IN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934B6E3B-6A70-882E-5AB0-70F747B5E898}"/>
                </a:ext>
              </a:extLst>
            </p:cNvPr>
            <p:cNvSpPr txBox="1"/>
            <p:nvPr/>
          </p:nvSpPr>
          <p:spPr>
            <a:xfrm>
              <a:off x="1069350" y="3167348"/>
              <a:ext cx="1741632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IN" sz="1200" b="0" i="0" u="none" strike="noStrike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Feature Selection</a:t>
              </a:r>
              <a:endParaRPr lang="en-IN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F554F3B8-7B27-C932-EF46-D0792EC1FF8A}"/>
                </a:ext>
              </a:extLst>
            </p:cNvPr>
            <p:cNvSpPr txBox="1"/>
            <p:nvPr/>
          </p:nvSpPr>
          <p:spPr>
            <a:xfrm>
              <a:off x="1069350" y="3401696"/>
              <a:ext cx="1741632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IN" sz="1200" b="0" i="0" u="none" strike="noStrike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Clustering Analysis</a:t>
              </a:r>
              <a:endParaRPr lang="en-IN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3E7CB0E1-16F5-9A2A-DE76-0056ED0F2B80}"/>
                </a:ext>
              </a:extLst>
            </p:cNvPr>
            <p:cNvSpPr txBox="1"/>
            <p:nvPr/>
          </p:nvSpPr>
          <p:spPr>
            <a:xfrm>
              <a:off x="1069350" y="3636044"/>
              <a:ext cx="1741632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IN" sz="1200" b="0" i="0" u="none" strike="noStrike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Differential Analysis</a:t>
              </a:r>
              <a:endParaRPr lang="en-IN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44E6AB19-D589-95DC-2814-7EF7A01ED6C6}"/>
                </a:ext>
              </a:extLst>
            </p:cNvPr>
            <p:cNvSpPr txBox="1"/>
            <p:nvPr/>
          </p:nvSpPr>
          <p:spPr>
            <a:xfrm>
              <a:off x="1069350" y="3870392"/>
              <a:ext cx="1741632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IN" sz="1200" b="0" i="0" u="none" strike="noStrike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Statistical Analysis</a:t>
              </a:r>
              <a:endParaRPr lang="en-IN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B90D2015-4F37-5B78-87DE-E8461192203A}"/>
                </a:ext>
              </a:extLst>
            </p:cNvPr>
            <p:cNvSpPr txBox="1"/>
            <p:nvPr/>
          </p:nvSpPr>
          <p:spPr>
            <a:xfrm>
              <a:off x="1069350" y="4104740"/>
              <a:ext cx="1741632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IN" sz="1200" b="0" i="0" u="none" strike="noStrike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Functional Analysis </a:t>
              </a:r>
              <a:endParaRPr lang="en-IN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9DF3D2BB-A10F-44ED-8756-762A02BEC469}"/>
                </a:ext>
              </a:extLst>
            </p:cNvPr>
            <p:cNvSpPr txBox="1"/>
            <p:nvPr/>
          </p:nvSpPr>
          <p:spPr>
            <a:xfrm>
              <a:off x="1069350" y="4339088"/>
              <a:ext cx="1552482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IN" sz="1200" b="0" i="0" u="none" strike="noStrike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Integration with Clinical Data</a:t>
              </a:r>
              <a:endParaRPr lang="en-IN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CC705094-13CE-EC29-39EC-394AABD18E00}"/>
                </a:ext>
              </a:extLst>
            </p:cNvPr>
            <p:cNvSpPr txBox="1"/>
            <p:nvPr/>
          </p:nvSpPr>
          <p:spPr>
            <a:xfrm>
              <a:off x="1069350" y="4758102"/>
              <a:ext cx="1741632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IN" sz="1200" b="0" i="0" u="none" strike="noStrike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Validation of Results</a:t>
              </a:r>
              <a:endParaRPr lang="en-IN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0DD959A3-B83E-BE19-A886-9D17436830D1}"/>
                </a:ext>
              </a:extLst>
            </p:cNvPr>
            <p:cNvSpPr txBox="1"/>
            <p:nvPr/>
          </p:nvSpPr>
          <p:spPr>
            <a:xfrm>
              <a:off x="1069350" y="4992459"/>
              <a:ext cx="1741632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IN" sz="1200" b="0" i="0" u="none" strike="noStrike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Report Writing and Documentation  </a:t>
              </a:r>
              <a:endParaRPr lang="en-IN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0ED93DF6-2C68-5EDF-AE0A-B69AD1F0F17F}"/>
                </a:ext>
              </a:extLst>
            </p:cNvPr>
            <p:cNvCxnSpPr/>
            <p:nvPr/>
          </p:nvCxnSpPr>
          <p:spPr>
            <a:xfrm>
              <a:off x="973551" y="2070131"/>
              <a:ext cx="10504074" cy="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19A8F05B-CAE2-63E0-B097-5C7812119024}"/>
                </a:ext>
              </a:extLst>
            </p:cNvPr>
            <p:cNvCxnSpPr/>
            <p:nvPr/>
          </p:nvCxnSpPr>
          <p:spPr>
            <a:xfrm>
              <a:off x="973551" y="2304479"/>
              <a:ext cx="10504074" cy="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3F6B053D-09EC-B612-19CF-EFBD2C281EE3}"/>
                </a:ext>
              </a:extLst>
            </p:cNvPr>
            <p:cNvCxnSpPr/>
            <p:nvPr/>
          </p:nvCxnSpPr>
          <p:spPr>
            <a:xfrm>
              <a:off x="973551" y="2723493"/>
              <a:ext cx="10504074" cy="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B2D64D3E-250E-69D2-67D0-B64C7D51B3C6}"/>
                </a:ext>
              </a:extLst>
            </p:cNvPr>
            <p:cNvCxnSpPr/>
            <p:nvPr/>
          </p:nvCxnSpPr>
          <p:spPr>
            <a:xfrm>
              <a:off x="973551" y="3142507"/>
              <a:ext cx="10504074" cy="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1D466440-BFF8-AC5B-961F-26727F72B3B8}"/>
                </a:ext>
              </a:extLst>
            </p:cNvPr>
            <p:cNvCxnSpPr/>
            <p:nvPr/>
          </p:nvCxnSpPr>
          <p:spPr>
            <a:xfrm>
              <a:off x="973551" y="3376855"/>
              <a:ext cx="10504074" cy="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0A2422ED-3C4B-DFFB-FDA4-92A37179BB64}"/>
                </a:ext>
              </a:extLst>
            </p:cNvPr>
            <p:cNvCxnSpPr/>
            <p:nvPr/>
          </p:nvCxnSpPr>
          <p:spPr>
            <a:xfrm>
              <a:off x="973551" y="3611203"/>
              <a:ext cx="10504074" cy="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F67C2028-4453-2A30-EBDE-D652A2851068}"/>
                </a:ext>
              </a:extLst>
            </p:cNvPr>
            <p:cNvCxnSpPr/>
            <p:nvPr/>
          </p:nvCxnSpPr>
          <p:spPr>
            <a:xfrm>
              <a:off x="973551" y="3845551"/>
              <a:ext cx="10504074" cy="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EBE2D50-C9AE-4D03-E11E-72B2173B436A}"/>
                </a:ext>
              </a:extLst>
            </p:cNvPr>
            <p:cNvCxnSpPr/>
            <p:nvPr/>
          </p:nvCxnSpPr>
          <p:spPr>
            <a:xfrm>
              <a:off x="973551" y="4079899"/>
              <a:ext cx="10504074" cy="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CC6FEE01-7FB0-6921-406C-B84A9A4BF403}"/>
                </a:ext>
              </a:extLst>
            </p:cNvPr>
            <p:cNvCxnSpPr/>
            <p:nvPr/>
          </p:nvCxnSpPr>
          <p:spPr>
            <a:xfrm>
              <a:off x="973551" y="4314247"/>
              <a:ext cx="10504074" cy="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ED184636-B188-7C6F-C36C-C1DF1EEB93FE}"/>
                </a:ext>
              </a:extLst>
            </p:cNvPr>
            <p:cNvCxnSpPr/>
            <p:nvPr/>
          </p:nvCxnSpPr>
          <p:spPr>
            <a:xfrm>
              <a:off x="973551" y="4733261"/>
              <a:ext cx="10504074" cy="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24D92685-56B6-5E55-4958-F084697B09F3}"/>
                </a:ext>
              </a:extLst>
            </p:cNvPr>
            <p:cNvCxnSpPr/>
            <p:nvPr/>
          </p:nvCxnSpPr>
          <p:spPr>
            <a:xfrm>
              <a:off x="973551" y="4967609"/>
              <a:ext cx="10504074" cy="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D84EAD08-58ED-CA71-493A-89C4B73AC6E3}"/>
                </a:ext>
              </a:extLst>
            </p:cNvPr>
            <p:cNvCxnSpPr>
              <a:cxnSpLocks/>
            </p:cNvCxnSpPr>
            <p:nvPr/>
          </p:nvCxnSpPr>
          <p:spPr>
            <a:xfrm>
              <a:off x="2934269" y="1794183"/>
              <a:ext cx="0" cy="3633809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6501F8EB-4473-C5EF-8FDE-A534D61234F9}"/>
                </a:ext>
              </a:extLst>
            </p:cNvPr>
            <p:cNvCxnSpPr>
              <a:cxnSpLocks/>
            </p:cNvCxnSpPr>
            <p:nvPr/>
          </p:nvCxnSpPr>
          <p:spPr>
            <a:xfrm>
              <a:off x="3238081" y="1794183"/>
              <a:ext cx="0" cy="3633809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2094DEA7-0CD4-8D3B-5FC3-18459D50AC58}"/>
                </a:ext>
              </a:extLst>
            </p:cNvPr>
            <p:cNvCxnSpPr>
              <a:cxnSpLocks/>
            </p:cNvCxnSpPr>
            <p:nvPr/>
          </p:nvCxnSpPr>
          <p:spPr>
            <a:xfrm>
              <a:off x="3541893" y="1794183"/>
              <a:ext cx="0" cy="3633809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A75722BB-72BD-D7AD-624D-2B7F2E92A409}"/>
                </a:ext>
              </a:extLst>
            </p:cNvPr>
            <p:cNvCxnSpPr>
              <a:cxnSpLocks/>
            </p:cNvCxnSpPr>
            <p:nvPr/>
          </p:nvCxnSpPr>
          <p:spPr>
            <a:xfrm>
              <a:off x="3845705" y="1794183"/>
              <a:ext cx="0" cy="3633809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D1BE0CE4-2044-23D8-097C-0EBFC4F00846}"/>
                </a:ext>
              </a:extLst>
            </p:cNvPr>
            <p:cNvCxnSpPr>
              <a:cxnSpLocks/>
            </p:cNvCxnSpPr>
            <p:nvPr/>
          </p:nvCxnSpPr>
          <p:spPr>
            <a:xfrm>
              <a:off x="4149517" y="1794183"/>
              <a:ext cx="0" cy="3633809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23B67287-9C90-EFDE-C843-626C4EC411F0}"/>
                </a:ext>
              </a:extLst>
            </p:cNvPr>
            <p:cNvCxnSpPr>
              <a:cxnSpLocks/>
            </p:cNvCxnSpPr>
            <p:nvPr/>
          </p:nvCxnSpPr>
          <p:spPr>
            <a:xfrm>
              <a:off x="4388165" y="1794183"/>
              <a:ext cx="0" cy="3633809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C8B384F4-9946-FB6F-65D6-E666373330E1}"/>
                </a:ext>
              </a:extLst>
            </p:cNvPr>
            <p:cNvCxnSpPr>
              <a:cxnSpLocks/>
            </p:cNvCxnSpPr>
            <p:nvPr/>
          </p:nvCxnSpPr>
          <p:spPr>
            <a:xfrm>
              <a:off x="4626813" y="1794183"/>
              <a:ext cx="0" cy="3633809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4C81F60D-BA66-2D1F-9BAA-8406587CD548}"/>
                </a:ext>
              </a:extLst>
            </p:cNvPr>
            <p:cNvCxnSpPr>
              <a:cxnSpLocks/>
            </p:cNvCxnSpPr>
            <p:nvPr/>
          </p:nvCxnSpPr>
          <p:spPr>
            <a:xfrm>
              <a:off x="4865461" y="1794183"/>
              <a:ext cx="0" cy="3633809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5D861451-840E-DFA2-DF15-9039226F5CBC}"/>
                </a:ext>
              </a:extLst>
            </p:cNvPr>
            <p:cNvCxnSpPr>
              <a:cxnSpLocks/>
            </p:cNvCxnSpPr>
            <p:nvPr/>
          </p:nvCxnSpPr>
          <p:spPr>
            <a:xfrm>
              <a:off x="5104109" y="1794183"/>
              <a:ext cx="0" cy="3633809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B56ED5FC-2DE5-53E6-1CA7-07102D76C731}"/>
                </a:ext>
              </a:extLst>
            </p:cNvPr>
            <p:cNvCxnSpPr>
              <a:cxnSpLocks/>
            </p:cNvCxnSpPr>
            <p:nvPr/>
          </p:nvCxnSpPr>
          <p:spPr>
            <a:xfrm>
              <a:off x="5342757" y="1794183"/>
              <a:ext cx="0" cy="3633809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C46E3197-A30D-79C3-3E8F-1E71AA47E772}"/>
                </a:ext>
              </a:extLst>
            </p:cNvPr>
            <p:cNvCxnSpPr>
              <a:cxnSpLocks/>
            </p:cNvCxnSpPr>
            <p:nvPr/>
          </p:nvCxnSpPr>
          <p:spPr>
            <a:xfrm>
              <a:off x="5646569" y="1794183"/>
              <a:ext cx="0" cy="3633809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883DBA49-1CBC-FD13-AD6A-F8287F8B89EE}"/>
                </a:ext>
              </a:extLst>
            </p:cNvPr>
            <p:cNvCxnSpPr>
              <a:cxnSpLocks/>
            </p:cNvCxnSpPr>
            <p:nvPr/>
          </p:nvCxnSpPr>
          <p:spPr>
            <a:xfrm>
              <a:off x="5950381" y="1794183"/>
              <a:ext cx="0" cy="3633809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BBE73679-9BC5-9A96-FB21-42031028BBA2}"/>
                </a:ext>
              </a:extLst>
            </p:cNvPr>
            <p:cNvCxnSpPr>
              <a:cxnSpLocks/>
            </p:cNvCxnSpPr>
            <p:nvPr/>
          </p:nvCxnSpPr>
          <p:spPr>
            <a:xfrm>
              <a:off x="6254193" y="1794183"/>
              <a:ext cx="0" cy="3633809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92614EB1-117D-10B4-4279-9F5BEB38C36F}"/>
                </a:ext>
              </a:extLst>
            </p:cNvPr>
            <p:cNvCxnSpPr>
              <a:cxnSpLocks/>
            </p:cNvCxnSpPr>
            <p:nvPr/>
          </p:nvCxnSpPr>
          <p:spPr>
            <a:xfrm>
              <a:off x="6558005" y="1794183"/>
              <a:ext cx="0" cy="3633809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982A633E-0458-FEC6-9A8A-83927A51789C}"/>
                </a:ext>
              </a:extLst>
            </p:cNvPr>
            <p:cNvCxnSpPr>
              <a:cxnSpLocks/>
            </p:cNvCxnSpPr>
            <p:nvPr/>
          </p:nvCxnSpPr>
          <p:spPr>
            <a:xfrm>
              <a:off x="6861817" y="1794183"/>
              <a:ext cx="0" cy="3633809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5634660B-BAA4-87CF-2F40-9D1E3B7023F0}"/>
                </a:ext>
              </a:extLst>
            </p:cNvPr>
            <p:cNvCxnSpPr>
              <a:cxnSpLocks/>
            </p:cNvCxnSpPr>
            <p:nvPr/>
          </p:nvCxnSpPr>
          <p:spPr>
            <a:xfrm>
              <a:off x="7165629" y="1794183"/>
              <a:ext cx="0" cy="3633809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2D59FB22-E069-0513-E0EC-5FFB1C05FED3}"/>
                </a:ext>
              </a:extLst>
            </p:cNvPr>
            <p:cNvCxnSpPr>
              <a:cxnSpLocks/>
            </p:cNvCxnSpPr>
            <p:nvPr/>
          </p:nvCxnSpPr>
          <p:spPr>
            <a:xfrm>
              <a:off x="7469441" y="1794183"/>
              <a:ext cx="0" cy="3633809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5926571A-EDD9-C8BD-5F8D-43F61328E72E}"/>
                </a:ext>
              </a:extLst>
            </p:cNvPr>
            <p:cNvCxnSpPr>
              <a:cxnSpLocks/>
            </p:cNvCxnSpPr>
            <p:nvPr/>
          </p:nvCxnSpPr>
          <p:spPr>
            <a:xfrm>
              <a:off x="7773253" y="1794183"/>
              <a:ext cx="0" cy="3633809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861D0354-572C-45D8-7892-3F5EA8F4D52B}"/>
                </a:ext>
              </a:extLst>
            </p:cNvPr>
            <p:cNvCxnSpPr>
              <a:cxnSpLocks/>
            </p:cNvCxnSpPr>
            <p:nvPr/>
          </p:nvCxnSpPr>
          <p:spPr>
            <a:xfrm>
              <a:off x="8011901" y="1794183"/>
              <a:ext cx="0" cy="3633809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19B604AD-A38C-00AE-EB66-5C655068CC8A}"/>
                </a:ext>
              </a:extLst>
            </p:cNvPr>
            <p:cNvCxnSpPr>
              <a:cxnSpLocks/>
            </p:cNvCxnSpPr>
            <p:nvPr/>
          </p:nvCxnSpPr>
          <p:spPr>
            <a:xfrm>
              <a:off x="8250549" y="1794183"/>
              <a:ext cx="0" cy="3633809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22EE9FCA-77A1-9605-0EB6-0CA18995904A}"/>
                </a:ext>
              </a:extLst>
            </p:cNvPr>
            <p:cNvCxnSpPr>
              <a:cxnSpLocks/>
            </p:cNvCxnSpPr>
            <p:nvPr/>
          </p:nvCxnSpPr>
          <p:spPr>
            <a:xfrm>
              <a:off x="8489197" y="1794183"/>
              <a:ext cx="0" cy="3633809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8EBDA7A8-48EB-04C4-2B61-B44D442D4DB8}"/>
                </a:ext>
              </a:extLst>
            </p:cNvPr>
            <p:cNvCxnSpPr>
              <a:cxnSpLocks/>
            </p:cNvCxnSpPr>
            <p:nvPr/>
          </p:nvCxnSpPr>
          <p:spPr>
            <a:xfrm>
              <a:off x="8727845" y="1794183"/>
              <a:ext cx="0" cy="3633809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3F5338BA-40E0-77FE-9442-FF5F80C564DE}"/>
                </a:ext>
              </a:extLst>
            </p:cNvPr>
            <p:cNvCxnSpPr>
              <a:cxnSpLocks/>
            </p:cNvCxnSpPr>
            <p:nvPr/>
          </p:nvCxnSpPr>
          <p:spPr>
            <a:xfrm>
              <a:off x="8966493" y="1794183"/>
              <a:ext cx="0" cy="3633809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451106FE-E867-8482-AB65-87E279686CB5}"/>
                </a:ext>
              </a:extLst>
            </p:cNvPr>
            <p:cNvCxnSpPr>
              <a:cxnSpLocks/>
            </p:cNvCxnSpPr>
            <p:nvPr/>
          </p:nvCxnSpPr>
          <p:spPr>
            <a:xfrm>
              <a:off x="9270305" y="1794183"/>
              <a:ext cx="0" cy="3633809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30EC94C6-7A4B-5872-4D70-84621606BFA3}"/>
                </a:ext>
              </a:extLst>
            </p:cNvPr>
            <p:cNvCxnSpPr>
              <a:cxnSpLocks/>
            </p:cNvCxnSpPr>
            <p:nvPr/>
          </p:nvCxnSpPr>
          <p:spPr>
            <a:xfrm>
              <a:off x="9574117" y="1794183"/>
              <a:ext cx="0" cy="3633809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CA88110D-87AC-126E-B02E-2CE0E9702ECE}"/>
                </a:ext>
              </a:extLst>
            </p:cNvPr>
            <p:cNvCxnSpPr>
              <a:cxnSpLocks/>
            </p:cNvCxnSpPr>
            <p:nvPr/>
          </p:nvCxnSpPr>
          <p:spPr>
            <a:xfrm>
              <a:off x="9877929" y="1794183"/>
              <a:ext cx="0" cy="3633809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51267296-F698-AE2D-6538-B29DD8EA0CB4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741" y="1794183"/>
              <a:ext cx="0" cy="3633809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F03B9A3D-EBE4-D104-BB17-17A50DCAD11B}"/>
                </a:ext>
              </a:extLst>
            </p:cNvPr>
            <p:cNvCxnSpPr>
              <a:cxnSpLocks/>
            </p:cNvCxnSpPr>
            <p:nvPr/>
          </p:nvCxnSpPr>
          <p:spPr>
            <a:xfrm>
              <a:off x="10485553" y="1794183"/>
              <a:ext cx="0" cy="3633809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6A0FB49B-0503-6FAF-8E9F-57D65E0BDE64}"/>
                </a:ext>
              </a:extLst>
            </p:cNvPr>
            <p:cNvCxnSpPr>
              <a:cxnSpLocks/>
            </p:cNvCxnSpPr>
            <p:nvPr/>
          </p:nvCxnSpPr>
          <p:spPr>
            <a:xfrm>
              <a:off x="10789365" y="1794183"/>
              <a:ext cx="0" cy="3633809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0E0D1F7E-0D61-2CBF-10D6-353AA7D142DF}"/>
                </a:ext>
              </a:extLst>
            </p:cNvPr>
            <p:cNvCxnSpPr>
              <a:cxnSpLocks/>
            </p:cNvCxnSpPr>
            <p:nvPr/>
          </p:nvCxnSpPr>
          <p:spPr>
            <a:xfrm>
              <a:off x="11093177" y="1794183"/>
              <a:ext cx="0" cy="3633809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1" name="Rectangle: Rounded Corners 160">
              <a:extLst>
                <a:ext uri="{FF2B5EF4-FFF2-40B4-BE49-F238E27FC236}">
                  <a16:creationId xmlns:a16="http://schemas.microsoft.com/office/drawing/2014/main" id="{EB775E10-71A8-77F4-3F34-CF79AA92D5AA}"/>
                </a:ext>
              </a:extLst>
            </p:cNvPr>
            <p:cNvSpPr/>
            <p:nvPr/>
          </p:nvSpPr>
          <p:spPr>
            <a:xfrm>
              <a:off x="3105719" y="1869723"/>
              <a:ext cx="620655" cy="144000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2" name="Rectangle: Rounded Corners 161">
              <a:extLst>
                <a:ext uri="{FF2B5EF4-FFF2-40B4-BE49-F238E27FC236}">
                  <a16:creationId xmlns:a16="http://schemas.microsoft.com/office/drawing/2014/main" id="{4F838527-D0D0-D2AB-644B-3BCC064A3015}"/>
                </a:ext>
              </a:extLst>
            </p:cNvPr>
            <p:cNvSpPr/>
            <p:nvPr/>
          </p:nvSpPr>
          <p:spPr>
            <a:xfrm>
              <a:off x="3653988" y="2126479"/>
              <a:ext cx="1117708" cy="144000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3" name="Rectangle: Rounded Corners 162">
              <a:extLst>
                <a:ext uri="{FF2B5EF4-FFF2-40B4-BE49-F238E27FC236}">
                  <a16:creationId xmlns:a16="http://schemas.microsoft.com/office/drawing/2014/main" id="{25C22C8E-9D23-0B66-49F4-05DC962A46E1}"/>
                </a:ext>
              </a:extLst>
            </p:cNvPr>
            <p:cNvSpPr/>
            <p:nvPr/>
          </p:nvSpPr>
          <p:spPr>
            <a:xfrm>
              <a:off x="4720279" y="2448179"/>
              <a:ext cx="612532" cy="144000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4" name="Rectangle: Rounded Corners 163">
              <a:extLst>
                <a:ext uri="{FF2B5EF4-FFF2-40B4-BE49-F238E27FC236}">
                  <a16:creationId xmlns:a16="http://schemas.microsoft.com/office/drawing/2014/main" id="{C56B5A3E-C1F0-E35B-0306-82D3F85359F6}"/>
                </a:ext>
              </a:extLst>
            </p:cNvPr>
            <p:cNvSpPr/>
            <p:nvPr/>
          </p:nvSpPr>
          <p:spPr>
            <a:xfrm>
              <a:off x="5361309" y="2885961"/>
              <a:ext cx="792406" cy="144647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5" name="Rectangle: Rounded Corners 164">
              <a:extLst>
                <a:ext uri="{FF2B5EF4-FFF2-40B4-BE49-F238E27FC236}">
                  <a16:creationId xmlns:a16="http://schemas.microsoft.com/office/drawing/2014/main" id="{162F73D9-4201-4CBC-9AE4-D7C1CA627AFA}"/>
                </a:ext>
              </a:extLst>
            </p:cNvPr>
            <p:cNvSpPr/>
            <p:nvPr/>
          </p:nvSpPr>
          <p:spPr>
            <a:xfrm>
              <a:off x="6259883" y="3199682"/>
              <a:ext cx="298114" cy="144000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6" name="Rectangle: Rounded Corners 165">
              <a:extLst>
                <a:ext uri="{FF2B5EF4-FFF2-40B4-BE49-F238E27FC236}">
                  <a16:creationId xmlns:a16="http://schemas.microsoft.com/office/drawing/2014/main" id="{ADB8585D-D7CA-B0E3-4ABA-AD33A646BBE6}"/>
                </a:ext>
              </a:extLst>
            </p:cNvPr>
            <p:cNvSpPr/>
            <p:nvPr/>
          </p:nvSpPr>
          <p:spPr>
            <a:xfrm>
              <a:off x="6557997" y="3428281"/>
              <a:ext cx="846280" cy="144000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7" name="Rectangle: Rounded Corners 166">
              <a:extLst>
                <a:ext uri="{FF2B5EF4-FFF2-40B4-BE49-F238E27FC236}">
                  <a16:creationId xmlns:a16="http://schemas.microsoft.com/office/drawing/2014/main" id="{54476169-29BD-8181-3143-3BD12C5E2AF9}"/>
                </a:ext>
              </a:extLst>
            </p:cNvPr>
            <p:cNvSpPr/>
            <p:nvPr/>
          </p:nvSpPr>
          <p:spPr>
            <a:xfrm>
              <a:off x="7289523" y="3657455"/>
              <a:ext cx="189030" cy="144000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8" name="Rectangle: Rounded Corners 167">
              <a:extLst>
                <a:ext uri="{FF2B5EF4-FFF2-40B4-BE49-F238E27FC236}">
                  <a16:creationId xmlns:a16="http://schemas.microsoft.com/office/drawing/2014/main" id="{4C55DDA7-2D94-F84C-8FC4-C970593CDF73}"/>
                </a:ext>
              </a:extLst>
            </p:cNvPr>
            <p:cNvSpPr/>
            <p:nvPr/>
          </p:nvSpPr>
          <p:spPr>
            <a:xfrm>
              <a:off x="7404277" y="3904556"/>
              <a:ext cx="800574" cy="125662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9" name="Rectangle: Rounded Corners 168">
              <a:extLst>
                <a:ext uri="{FF2B5EF4-FFF2-40B4-BE49-F238E27FC236}">
                  <a16:creationId xmlns:a16="http://schemas.microsoft.com/office/drawing/2014/main" id="{B6FABE4F-6292-BC46-D13C-2519F68850BD}"/>
                </a:ext>
              </a:extLst>
            </p:cNvPr>
            <p:cNvSpPr/>
            <p:nvPr/>
          </p:nvSpPr>
          <p:spPr>
            <a:xfrm>
              <a:off x="8012399" y="4152715"/>
              <a:ext cx="695984" cy="144000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0" name="Rectangle: Rounded Corners 169">
              <a:extLst>
                <a:ext uri="{FF2B5EF4-FFF2-40B4-BE49-F238E27FC236}">
                  <a16:creationId xmlns:a16="http://schemas.microsoft.com/office/drawing/2014/main" id="{433689F0-56B6-7410-4D8E-A66BD2F42406}"/>
                </a:ext>
              </a:extLst>
            </p:cNvPr>
            <p:cNvSpPr/>
            <p:nvPr/>
          </p:nvSpPr>
          <p:spPr>
            <a:xfrm>
              <a:off x="8727432" y="4448270"/>
              <a:ext cx="530299" cy="144000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1" name="Rectangle: Rounded Corners 170">
              <a:extLst>
                <a:ext uri="{FF2B5EF4-FFF2-40B4-BE49-F238E27FC236}">
                  <a16:creationId xmlns:a16="http://schemas.microsoft.com/office/drawing/2014/main" id="{4984C149-B1E0-0C98-2B76-204F297D8AF3}"/>
                </a:ext>
              </a:extLst>
            </p:cNvPr>
            <p:cNvSpPr/>
            <p:nvPr/>
          </p:nvSpPr>
          <p:spPr>
            <a:xfrm>
              <a:off x="9066974" y="4786071"/>
              <a:ext cx="687057" cy="144000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2" name="Rectangle: Rounded Corners 171">
              <a:extLst>
                <a:ext uri="{FF2B5EF4-FFF2-40B4-BE49-F238E27FC236}">
                  <a16:creationId xmlns:a16="http://schemas.microsoft.com/office/drawing/2014/main" id="{EFF1F8A1-55F6-7DA3-9C61-B3E2D3D47505}"/>
                </a:ext>
              </a:extLst>
            </p:cNvPr>
            <p:cNvSpPr/>
            <p:nvPr/>
          </p:nvSpPr>
          <p:spPr>
            <a:xfrm>
              <a:off x="9830232" y="5135810"/>
              <a:ext cx="475818" cy="144000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E794446-7C72-200C-253D-86AC4E261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C7F80-EE1A-4CD1-A379-9B77B0EEE16D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9936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5106F6FA-1AD9-4296-EA1F-7F85F751CD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74419" y="12812"/>
            <a:ext cx="4217581" cy="1528909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907A4E7A-A4A1-6DF7-F384-74CDDAF235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-1" y="5695634"/>
            <a:ext cx="2573080" cy="116236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A8370D0-AE95-12D3-9482-CDB2C023E3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7976" y="411651"/>
            <a:ext cx="530548" cy="709148"/>
          </a:xfrm>
          <a:prstGeom prst="rect">
            <a:avLst/>
          </a:prstGeom>
        </p:spPr>
      </p:pic>
      <p:sp>
        <p:nvSpPr>
          <p:cNvPr id="9" name="Rectangle: Top Corners Rounded 8">
            <a:extLst>
              <a:ext uri="{FF2B5EF4-FFF2-40B4-BE49-F238E27FC236}">
                <a16:creationId xmlns:a16="http://schemas.microsoft.com/office/drawing/2014/main" id="{2BCBD057-A411-9CAB-896E-5D7693EC7673}"/>
              </a:ext>
            </a:extLst>
          </p:cNvPr>
          <p:cNvSpPr/>
          <p:nvPr/>
        </p:nvSpPr>
        <p:spPr>
          <a:xfrm rot="16200000">
            <a:off x="6488365" y="-4649291"/>
            <a:ext cx="576238" cy="10831033"/>
          </a:xfrm>
          <a:prstGeom prst="round2Same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91FB7BF-0807-1E37-D118-41FDA181D81C}"/>
              </a:ext>
            </a:extLst>
          </p:cNvPr>
          <p:cNvSpPr txBox="1">
            <a:spLocks/>
          </p:cNvSpPr>
          <p:nvPr/>
        </p:nvSpPr>
        <p:spPr>
          <a:xfrm>
            <a:off x="1639006" y="560700"/>
            <a:ext cx="10102702" cy="4535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Timeline</a:t>
            </a:r>
            <a:endParaRPr lang="en-IN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624060B-5968-BE7B-DCD9-3F1AD82F636B}"/>
              </a:ext>
            </a:extLst>
          </p:cNvPr>
          <p:cNvSpPr/>
          <p:nvPr/>
        </p:nvSpPr>
        <p:spPr>
          <a:xfrm>
            <a:off x="996633" y="5472571"/>
            <a:ext cx="9902083" cy="119192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 fontAlgn="base"/>
            <a:r>
              <a:rPr lang="en-IN" sz="1800" b="0" i="0" u="none" strike="noStrike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</a:rPr>
              <a:t>Expected results:</a:t>
            </a:r>
            <a:r>
              <a:rPr lang="en-US" sz="1800" b="0" i="0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</a:rPr>
              <a:t>​</a:t>
            </a:r>
            <a:endParaRPr lang="en-US" b="0" i="0" dirty="0"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D0D0D"/>
                </a:solidFill>
                <a:effectLst/>
                <a:latin typeface="Segoe UI" panose="020B0502040204020203" pitchFamily="34" charset="0"/>
              </a:rPr>
              <a:t>Identification of distinct immune cell populations with annotations indicating cell types.</a:t>
            </a:r>
            <a:r>
              <a:rPr lang="en-IN" sz="1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​</a:t>
            </a:r>
            <a:endParaRPr lang="en-IN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 list of biomarkers that are significantly different between flare and non-flare conditions within each identified cell population, providing insights into flare pathogenesis.</a:t>
            </a:r>
            <a:endParaRPr lang="en-IN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EAD94D4-A467-F1BA-B634-F005703CCC28}"/>
              </a:ext>
            </a:extLst>
          </p:cNvPr>
          <p:cNvCxnSpPr>
            <a:cxnSpLocks/>
          </p:cNvCxnSpPr>
          <p:nvPr/>
        </p:nvCxnSpPr>
        <p:spPr>
          <a:xfrm>
            <a:off x="992602" y="5586256"/>
            <a:ext cx="0" cy="917852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A561D088-8382-9A7E-D9D5-3A997852D5BD}"/>
              </a:ext>
            </a:extLst>
          </p:cNvPr>
          <p:cNvGrpSpPr/>
          <p:nvPr/>
        </p:nvGrpSpPr>
        <p:grpSpPr>
          <a:xfrm>
            <a:off x="973025" y="1170686"/>
            <a:ext cx="9915194" cy="4214430"/>
            <a:chOff x="955944" y="1241906"/>
            <a:chExt cx="9850497" cy="389002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EF58579-FD30-2A31-6F70-D3BC38F59B50}"/>
                </a:ext>
              </a:extLst>
            </p:cNvPr>
            <p:cNvSpPr/>
            <p:nvPr/>
          </p:nvSpPr>
          <p:spPr>
            <a:xfrm>
              <a:off x="964753" y="1771457"/>
              <a:ext cx="9832890" cy="33450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Rectangle: Top Corners Rounded 4">
              <a:extLst>
                <a:ext uri="{FF2B5EF4-FFF2-40B4-BE49-F238E27FC236}">
                  <a16:creationId xmlns:a16="http://schemas.microsoft.com/office/drawing/2014/main" id="{FA02A2AB-25D2-6B28-F15A-AA27898C2D3D}"/>
                </a:ext>
              </a:extLst>
            </p:cNvPr>
            <p:cNvSpPr/>
            <p:nvPr/>
          </p:nvSpPr>
          <p:spPr>
            <a:xfrm>
              <a:off x="1059277" y="1244338"/>
              <a:ext cx="1761231" cy="541578"/>
            </a:xfrm>
            <a:prstGeom prst="round2Same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Task</a:t>
              </a:r>
            </a:p>
          </p:txBody>
        </p:sp>
        <p:sp>
          <p:nvSpPr>
            <p:cNvPr id="23" name="Rectangle: Top Corners Rounded 22">
              <a:extLst>
                <a:ext uri="{FF2B5EF4-FFF2-40B4-BE49-F238E27FC236}">
                  <a16:creationId xmlns:a16="http://schemas.microsoft.com/office/drawing/2014/main" id="{33A7106F-A0E0-7E18-677E-BF90C0767310}"/>
                </a:ext>
              </a:extLst>
            </p:cNvPr>
            <p:cNvSpPr/>
            <p:nvPr/>
          </p:nvSpPr>
          <p:spPr>
            <a:xfrm>
              <a:off x="2930312" y="1245449"/>
              <a:ext cx="1451789" cy="275301"/>
            </a:xfrm>
            <a:prstGeom prst="round2Same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May</a:t>
              </a:r>
            </a:p>
          </p:txBody>
        </p:sp>
        <p:sp>
          <p:nvSpPr>
            <p:cNvPr id="31" name="Rectangle: Top Corners Rounded 30">
              <a:extLst>
                <a:ext uri="{FF2B5EF4-FFF2-40B4-BE49-F238E27FC236}">
                  <a16:creationId xmlns:a16="http://schemas.microsoft.com/office/drawing/2014/main" id="{F6FEBFE8-9426-D16F-BE43-40198A4DF98A}"/>
                </a:ext>
              </a:extLst>
            </p:cNvPr>
            <p:cNvSpPr/>
            <p:nvPr/>
          </p:nvSpPr>
          <p:spPr>
            <a:xfrm>
              <a:off x="4395155" y="1244338"/>
              <a:ext cx="971350" cy="268809"/>
            </a:xfrm>
            <a:prstGeom prst="round2Same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June</a:t>
              </a:r>
            </a:p>
          </p:txBody>
        </p:sp>
        <p:sp>
          <p:nvSpPr>
            <p:cNvPr id="39" name="Rectangle: Top Corners Rounded 38">
              <a:extLst>
                <a:ext uri="{FF2B5EF4-FFF2-40B4-BE49-F238E27FC236}">
                  <a16:creationId xmlns:a16="http://schemas.microsoft.com/office/drawing/2014/main" id="{969A37F5-F7B7-4CA7-3AAF-26033625BC49}"/>
                </a:ext>
              </a:extLst>
            </p:cNvPr>
            <p:cNvSpPr/>
            <p:nvPr/>
          </p:nvSpPr>
          <p:spPr>
            <a:xfrm>
              <a:off x="5412308" y="1244338"/>
              <a:ext cx="1142260" cy="275301"/>
            </a:xfrm>
            <a:prstGeom prst="round2Same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July</a:t>
              </a:r>
            </a:p>
          </p:txBody>
        </p:sp>
        <p:sp>
          <p:nvSpPr>
            <p:cNvPr id="47" name="Rectangle: Top Corners Rounded 46">
              <a:extLst>
                <a:ext uri="{FF2B5EF4-FFF2-40B4-BE49-F238E27FC236}">
                  <a16:creationId xmlns:a16="http://schemas.microsoft.com/office/drawing/2014/main" id="{A353305A-7088-CA71-8635-7B457230215D}"/>
                </a:ext>
              </a:extLst>
            </p:cNvPr>
            <p:cNvSpPr/>
            <p:nvPr/>
          </p:nvSpPr>
          <p:spPr>
            <a:xfrm>
              <a:off x="6600370" y="1244338"/>
              <a:ext cx="1409535" cy="275301"/>
            </a:xfrm>
            <a:prstGeom prst="round2Same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August</a:t>
              </a: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C52ADC87-0FE9-0411-EA54-5E4E8D5A3343}"/>
                </a:ext>
              </a:extLst>
            </p:cNvPr>
            <p:cNvSpPr/>
            <p:nvPr/>
          </p:nvSpPr>
          <p:spPr>
            <a:xfrm>
              <a:off x="5407430" y="1554411"/>
              <a:ext cx="226626" cy="1967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W1</a:t>
              </a: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02FC6BC3-3EC7-F386-C146-0F561F4E7E2B}"/>
                </a:ext>
              </a:extLst>
            </p:cNvPr>
            <p:cNvSpPr/>
            <p:nvPr/>
          </p:nvSpPr>
          <p:spPr>
            <a:xfrm>
              <a:off x="5663110" y="1554125"/>
              <a:ext cx="264886" cy="1934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W2</a:t>
              </a: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A1247489-A9F7-277D-933E-440E5F6AB837}"/>
                </a:ext>
              </a:extLst>
            </p:cNvPr>
            <p:cNvSpPr/>
            <p:nvPr/>
          </p:nvSpPr>
          <p:spPr>
            <a:xfrm>
              <a:off x="5970157" y="1554125"/>
              <a:ext cx="243117" cy="18998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W3</a:t>
              </a: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4F4F0555-8C09-3015-1CD1-C4A9FCE4724D}"/>
                </a:ext>
              </a:extLst>
            </p:cNvPr>
            <p:cNvSpPr/>
            <p:nvPr/>
          </p:nvSpPr>
          <p:spPr>
            <a:xfrm>
              <a:off x="6254193" y="1550017"/>
              <a:ext cx="264886" cy="1934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W4</a:t>
              </a: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911D1DA4-69C0-F7AA-3389-8C8C9D65B471}"/>
                </a:ext>
              </a:extLst>
            </p:cNvPr>
            <p:cNvSpPr/>
            <p:nvPr/>
          </p:nvSpPr>
          <p:spPr>
            <a:xfrm>
              <a:off x="6601812" y="1550015"/>
              <a:ext cx="226623" cy="1864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W1</a:t>
              </a: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C4A5586B-0592-977A-A322-F38453A9796E}"/>
                </a:ext>
              </a:extLst>
            </p:cNvPr>
            <p:cNvSpPr/>
            <p:nvPr/>
          </p:nvSpPr>
          <p:spPr>
            <a:xfrm>
              <a:off x="6878612" y="1550014"/>
              <a:ext cx="267952" cy="1864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W2</a:t>
              </a: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22D836BF-D689-80DD-DFC7-F03801152DE8}"/>
                </a:ext>
              </a:extLst>
            </p:cNvPr>
            <p:cNvSpPr/>
            <p:nvPr/>
          </p:nvSpPr>
          <p:spPr>
            <a:xfrm>
              <a:off x="7192896" y="1550014"/>
              <a:ext cx="226258" cy="18645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W3</a:t>
              </a: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BBDB1821-A449-01F4-9618-CB5C8160C0CA}"/>
                </a:ext>
              </a:extLst>
            </p:cNvPr>
            <p:cNvSpPr/>
            <p:nvPr/>
          </p:nvSpPr>
          <p:spPr>
            <a:xfrm>
              <a:off x="7495880" y="1553533"/>
              <a:ext cx="199722" cy="18293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W4</a:t>
              </a: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1FEE609D-E478-706A-C1F0-F18CFE9F8C35}"/>
                </a:ext>
              </a:extLst>
            </p:cNvPr>
            <p:cNvSpPr/>
            <p:nvPr/>
          </p:nvSpPr>
          <p:spPr>
            <a:xfrm>
              <a:off x="7771248" y="1553533"/>
              <a:ext cx="199722" cy="18941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W5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BF31152B-61D4-FA18-3D34-81324633B533}"/>
                </a:ext>
              </a:extLst>
            </p:cNvPr>
            <p:cNvSpPr txBox="1"/>
            <p:nvPr/>
          </p:nvSpPr>
          <p:spPr>
            <a:xfrm>
              <a:off x="1069350" y="1860624"/>
              <a:ext cx="1741632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IN" sz="1200" b="0" i="0" u="none" strike="noStrike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Literature Review</a:t>
              </a:r>
              <a:endParaRPr lang="en-IN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DA355D41-49D6-960E-9447-13247A9C6366}"/>
                </a:ext>
              </a:extLst>
            </p:cNvPr>
            <p:cNvSpPr txBox="1"/>
            <p:nvPr/>
          </p:nvSpPr>
          <p:spPr>
            <a:xfrm>
              <a:off x="1069350" y="2094972"/>
              <a:ext cx="1741632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endParaRPr lang="en-IN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9B18548E-A144-B948-4BAE-98535CA23BFE}"/>
                </a:ext>
              </a:extLst>
            </p:cNvPr>
            <p:cNvSpPr txBox="1"/>
            <p:nvPr/>
          </p:nvSpPr>
          <p:spPr>
            <a:xfrm>
              <a:off x="1069350" y="2329320"/>
              <a:ext cx="1741631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endParaRPr lang="en-IN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934B6E3B-6A70-882E-5AB0-70F747B5E898}"/>
                </a:ext>
              </a:extLst>
            </p:cNvPr>
            <p:cNvSpPr txBox="1"/>
            <p:nvPr/>
          </p:nvSpPr>
          <p:spPr>
            <a:xfrm>
              <a:off x="1069350" y="3167348"/>
              <a:ext cx="1741632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endParaRPr lang="en-IN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F554F3B8-7B27-C932-EF46-D0792EC1FF8A}"/>
                </a:ext>
              </a:extLst>
            </p:cNvPr>
            <p:cNvSpPr txBox="1"/>
            <p:nvPr/>
          </p:nvSpPr>
          <p:spPr>
            <a:xfrm>
              <a:off x="1059277" y="3185778"/>
              <a:ext cx="1741632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IN" sz="1200" b="0" i="0" u="none" strike="noStrike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Evaluation of </a:t>
              </a:r>
            </a:p>
            <a:p>
              <a:r>
                <a:rPr lang="en-IN" sz="1200" b="0" i="0" u="none" strike="noStrike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Clustering </a:t>
              </a:r>
              <a:r>
                <a:rPr lang="en-IN" sz="12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Results</a:t>
              </a:r>
              <a:endParaRPr lang="en-IN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3E7CB0E1-16F5-9A2A-DE76-0056ED0F2B80}"/>
                </a:ext>
              </a:extLst>
            </p:cNvPr>
            <p:cNvSpPr txBox="1"/>
            <p:nvPr/>
          </p:nvSpPr>
          <p:spPr>
            <a:xfrm>
              <a:off x="1059277" y="3734262"/>
              <a:ext cx="1741632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IN" sz="12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Visualization</a:t>
              </a:r>
              <a:endParaRPr lang="en-IN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44E6AB19-D589-95DC-2814-7EF7A01ED6C6}"/>
                </a:ext>
              </a:extLst>
            </p:cNvPr>
            <p:cNvSpPr txBox="1"/>
            <p:nvPr/>
          </p:nvSpPr>
          <p:spPr>
            <a:xfrm>
              <a:off x="1069350" y="3870392"/>
              <a:ext cx="1741632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endParaRPr lang="en-IN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B90D2015-4F37-5B78-87DE-E8461192203A}"/>
                </a:ext>
              </a:extLst>
            </p:cNvPr>
            <p:cNvSpPr txBox="1"/>
            <p:nvPr/>
          </p:nvSpPr>
          <p:spPr>
            <a:xfrm>
              <a:off x="1041954" y="4220980"/>
              <a:ext cx="1741632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IN" sz="12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Differential Analysis</a:t>
              </a:r>
              <a:endParaRPr lang="en-IN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9DF3D2BB-A10F-44ED-8756-762A02BEC469}"/>
                </a:ext>
              </a:extLst>
            </p:cNvPr>
            <p:cNvSpPr txBox="1"/>
            <p:nvPr/>
          </p:nvSpPr>
          <p:spPr>
            <a:xfrm>
              <a:off x="1069350" y="4339088"/>
              <a:ext cx="1552482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endParaRPr lang="en-IN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CC705094-13CE-EC29-39EC-394AABD18E00}"/>
                </a:ext>
              </a:extLst>
            </p:cNvPr>
            <p:cNvSpPr txBox="1"/>
            <p:nvPr/>
          </p:nvSpPr>
          <p:spPr>
            <a:xfrm>
              <a:off x="1069350" y="4758102"/>
              <a:ext cx="1741632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endParaRPr lang="en-IN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0DD959A3-B83E-BE19-A886-9D17436830D1}"/>
                </a:ext>
              </a:extLst>
            </p:cNvPr>
            <p:cNvSpPr txBox="1"/>
            <p:nvPr/>
          </p:nvSpPr>
          <p:spPr>
            <a:xfrm>
              <a:off x="1048770" y="4619143"/>
              <a:ext cx="1741632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IN" sz="1200" b="0" i="0" u="none" strike="noStrike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Report Writing and Documentation  </a:t>
              </a:r>
              <a:endParaRPr lang="en-IN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0ED93DF6-2C68-5EDF-AE0A-B69AD1F0F17F}"/>
                </a:ext>
              </a:extLst>
            </p:cNvPr>
            <p:cNvCxnSpPr>
              <a:cxnSpLocks/>
            </p:cNvCxnSpPr>
            <p:nvPr/>
          </p:nvCxnSpPr>
          <p:spPr>
            <a:xfrm>
              <a:off x="973551" y="2070131"/>
              <a:ext cx="9832890" cy="6015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3F6B053D-09EC-B612-19CF-EFBD2C281EE3}"/>
                </a:ext>
              </a:extLst>
            </p:cNvPr>
            <p:cNvCxnSpPr>
              <a:cxnSpLocks/>
            </p:cNvCxnSpPr>
            <p:nvPr/>
          </p:nvCxnSpPr>
          <p:spPr>
            <a:xfrm>
              <a:off x="973551" y="2723493"/>
              <a:ext cx="9824092" cy="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B2D64D3E-250E-69D2-67D0-B64C7D51B3C6}"/>
                </a:ext>
              </a:extLst>
            </p:cNvPr>
            <p:cNvCxnSpPr>
              <a:cxnSpLocks/>
            </p:cNvCxnSpPr>
            <p:nvPr/>
          </p:nvCxnSpPr>
          <p:spPr>
            <a:xfrm>
              <a:off x="973551" y="3142507"/>
              <a:ext cx="9824092" cy="42953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0A2422ED-3C4B-DFFB-FDA4-92A37179BB64}"/>
                </a:ext>
              </a:extLst>
            </p:cNvPr>
            <p:cNvCxnSpPr>
              <a:cxnSpLocks/>
            </p:cNvCxnSpPr>
            <p:nvPr/>
          </p:nvCxnSpPr>
          <p:spPr>
            <a:xfrm>
              <a:off x="973551" y="3611203"/>
              <a:ext cx="9824092" cy="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EBE2D50-C9AE-4D03-E11E-72B2173B436A}"/>
                </a:ext>
              </a:extLst>
            </p:cNvPr>
            <p:cNvCxnSpPr>
              <a:cxnSpLocks/>
            </p:cNvCxnSpPr>
            <p:nvPr/>
          </p:nvCxnSpPr>
          <p:spPr>
            <a:xfrm>
              <a:off x="973551" y="4079899"/>
              <a:ext cx="9824092" cy="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ED184636-B188-7C6F-C36C-C1DF1EEB93FE}"/>
                </a:ext>
              </a:extLst>
            </p:cNvPr>
            <p:cNvCxnSpPr>
              <a:cxnSpLocks/>
            </p:cNvCxnSpPr>
            <p:nvPr/>
          </p:nvCxnSpPr>
          <p:spPr>
            <a:xfrm>
              <a:off x="955944" y="4537531"/>
              <a:ext cx="9841699" cy="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D84EAD08-58ED-CA71-493A-89C4B73AC6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30312" y="1774905"/>
              <a:ext cx="1" cy="334045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6501F8EB-4473-C5EF-8FDE-A534D61234F9}"/>
                </a:ext>
              </a:extLst>
            </p:cNvPr>
            <p:cNvCxnSpPr>
              <a:cxnSpLocks/>
            </p:cNvCxnSpPr>
            <p:nvPr/>
          </p:nvCxnSpPr>
          <p:spPr>
            <a:xfrm>
              <a:off x="3238081" y="1774709"/>
              <a:ext cx="0" cy="3341761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2094DEA7-0CD4-8D3B-5FC3-18459D50AC58}"/>
                </a:ext>
              </a:extLst>
            </p:cNvPr>
            <p:cNvCxnSpPr>
              <a:cxnSpLocks/>
            </p:cNvCxnSpPr>
            <p:nvPr/>
          </p:nvCxnSpPr>
          <p:spPr>
            <a:xfrm>
              <a:off x="3541893" y="1774709"/>
              <a:ext cx="0" cy="3340649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A75722BB-72BD-D7AD-624D-2B7F2E92A409}"/>
                </a:ext>
              </a:extLst>
            </p:cNvPr>
            <p:cNvCxnSpPr>
              <a:cxnSpLocks/>
            </p:cNvCxnSpPr>
            <p:nvPr/>
          </p:nvCxnSpPr>
          <p:spPr>
            <a:xfrm>
              <a:off x="3845705" y="1785916"/>
              <a:ext cx="0" cy="3329443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D1BE0CE4-2044-23D8-097C-0EBFC4F00846}"/>
                </a:ext>
              </a:extLst>
            </p:cNvPr>
            <p:cNvCxnSpPr>
              <a:cxnSpLocks/>
            </p:cNvCxnSpPr>
            <p:nvPr/>
          </p:nvCxnSpPr>
          <p:spPr>
            <a:xfrm>
              <a:off x="4136879" y="1785916"/>
              <a:ext cx="25738" cy="3329443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23B67287-9C90-EFDE-C843-626C4EC411F0}"/>
                </a:ext>
              </a:extLst>
            </p:cNvPr>
            <p:cNvCxnSpPr>
              <a:cxnSpLocks/>
            </p:cNvCxnSpPr>
            <p:nvPr/>
          </p:nvCxnSpPr>
          <p:spPr>
            <a:xfrm>
              <a:off x="4388165" y="1774709"/>
              <a:ext cx="0" cy="3340649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C8B384F4-9946-FB6F-65D6-E666373330E1}"/>
                </a:ext>
              </a:extLst>
            </p:cNvPr>
            <p:cNvCxnSpPr>
              <a:cxnSpLocks/>
            </p:cNvCxnSpPr>
            <p:nvPr/>
          </p:nvCxnSpPr>
          <p:spPr>
            <a:xfrm>
              <a:off x="4629550" y="1774709"/>
              <a:ext cx="0" cy="3337275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4C81F60D-BA66-2D1F-9BAA-8406587CD548}"/>
                </a:ext>
              </a:extLst>
            </p:cNvPr>
            <p:cNvCxnSpPr>
              <a:cxnSpLocks/>
            </p:cNvCxnSpPr>
            <p:nvPr/>
          </p:nvCxnSpPr>
          <p:spPr>
            <a:xfrm>
              <a:off x="4865461" y="1774709"/>
              <a:ext cx="0" cy="3340649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5D861451-840E-DFA2-DF15-9039226F5CBC}"/>
                </a:ext>
              </a:extLst>
            </p:cNvPr>
            <p:cNvCxnSpPr>
              <a:cxnSpLocks/>
            </p:cNvCxnSpPr>
            <p:nvPr/>
          </p:nvCxnSpPr>
          <p:spPr>
            <a:xfrm>
              <a:off x="5104731" y="1774709"/>
              <a:ext cx="0" cy="3340649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B56ED5FC-2DE5-53E6-1CA7-07102D76C731}"/>
                </a:ext>
              </a:extLst>
            </p:cNvPr>
            <p:cNvCxnSpPr>
              <a:cxnSpLocks/>
            </p:cNvCxnSpPr>
            <p:nvPr/>
          </p:nvCxnSpPr>
          <p:spPr>
            <a:xfrm>
              <a:off x="5369616" y="1774709"/>
              <a:ext cx="12028" cy="334501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C46E3197-A30D-79C3-3E8F-1E71AA47E772}"/>
                </a:ext>
              </a:extLst>
            </p:cNvPr>
            <p:cNvCxnSpPr>
              <a:cxnSpLocks/>
            </p:cNvCxnSpPr>
            <p:nvPr/>
          </p:nvCxnSpPr>
          <p:spPr>
            <a:xfrm>
              <a:off x="5646569" y="1774709"/>
              <a:ext cx="0" cy="3340649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883DBA49-1CBC-FD13-AD6A-F8287F8B89EE}"/>
                </a:ext>
              </a:extLst>
            </p:cNvPr>
            <p:cNvCxnSpPr>
              <a:cxnSpLocks/>
            </p:cNvCxnSpPr>
            <p:nvPr/>
          </p:nvCxnSpPr>
          <p:spPr>
            <a:xfrm>
              <a:off x="5950381" y="1774709"/>
              <a:ext cx="0" cy="3340649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BBE73679-9BC5-9A96-FB21-42031028BB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49965" y="1782508"/>
              <a:ext cx="3843" cy="3349427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92614EB1-117D-10B4-4279-9F5BEB38C36F}"/>
                </a:ext>
              </a:extLst>
            </p:cNvPr>
            <p:cNvCxnSpPr>
              <a:cxnSpLocks/>
            </p:cNvCxnSpPr>
            <p:nvPr/>
          </p:nvCxnSpPr>
          <p:spPr>
            <a:xfrm>
              <a:off x="6558005" y="1774709"/>
              <a:ext cx="0" cy="334065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982A633E-0458-FEC6-9A8A-83927A51789C}"/>
                </a:ext>
              </a:extLst>
            </p:cNvPr>
            <p:cNvCxnSpPr>
              <a:cxnSpLocks/>
            </p:cNvCxnSpPr>
            <p:nvPr/>
          </p:nvCxnSpPr>
          <p:spPr>
            <a:xfrm>
              <a:off x="6861817" y="1774709"/>
              <a:ext cx="0" cy="334065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5634660B-BAA4-87CF-2F40-9D1E3B7023F0}"/>
                </a:ext>
              </a:extLst>
            </p:cNvPr>
            <p:cNvCxnSpPr>
              <a:cxnSpLocks/>
            </p:cNvCxnSpPr>
            <p:nvPr/>
          </p:nvCxnSpPr>
          <p:spPr>
            <a:xfrm>
              <a:off x="7165629" y="1774709"/>
              <a:ext cx="0" cy="334065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2D59FB22-E069-0513-E0EC-5FFB1C05FED3}"/>
                </a:ext>
              </a:extLst>
            </p:cNvPr>
            <p:cNvCxnSpPr>
              <a:cxnSpLocks/>
            </p:cNvCxnSpPr>
            <p:nvPr/>
          </p:nvCxnSpPr>
          <p:spPr>
            <a:xfrm>
              <a:off x="7451693" y="1766954"/>
              <a:ext cx="26860" cy="3348405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5926571A-EDD9-C8BD-5F8D-43F61328E72E}"/>
                </a:ext>
              </a:extLst>
            </p:cNvPr>
            <p:cNvCxnSpPr>
              <a:cxnSpLocks/>
            </p:cNvCxnSpPr>
            <p:nvPr/>
          </p:nvCxnSpPr>
          <p:spPr>
            <a:xfrm>
              <a:off x="7750132" y="1782508"/>
              <a:ext cx="26860" cy="3332851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861D0354-572C-45D8-7892-3F5EA8F4D52B}"/>
                </a:ext>
              </a:extLst>
            </p:cNvPr>
            <p:cNvCxnSpPr>
              <a:cxnSpLocks/>
            </p:cNvCxnSpPr>
            <p:nvPr/>
          </p:nvCxnSpPr>
          <p:spPr>
            <a:xfrm>
              <a:off x="8011901" y="1782508"/>
              <a:ext cx="0" cy="3332851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19B604AD-A38C-00AE-EB66-5C655068CC8A}"/>
                </a:ext>
              </a:extLst>
            </p:cNvPr>
            <p:cNvCxnSpPr>
              <a:cxnSpLocks/>
            </p:cNvCxnSpPr>
            <p:nvPr/>
          </p:nvCxnSpPr>
          <p:spPr>
            <a:xfrm>
              <a:off x="8250549" y="1774709"/>
              <a:ext cx="0" cy="334065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22EE9FCA-77A1-9605-0EB6-0CA18995904A}"/>
                </a:ext>
              </a:extLst>
            </p:cNvPr>
            <p:cNvCxnSpPr>
              <a:cxnSpLocks/>
            </p:cNvCxnSpPr>
            <p:nvPr/>
          </p:nvCxnSpPr>
          <p:spPr>
            <a:xfrm>
              <a:off x="8489197" y="1782508"/>
              <a:ext cx="0" cy="3332851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8EBDA7A8-48EB-04C4-2B61-B44D442D4DB8}"/>
                </a:ext>
              </a:extLst>
            </p:cNvPr>
            <p:cNvCxnSpPr>
              <a:cxnSpLocks/>
            </p:cNvCxnSpPr>
            <p:nvPr/>
          </p:nvCxnSpPr>
          <p:spPr>
            <a:xfrm>
              <a:off x="8717532" y="1774287"/>
              <a:ext cx="0" cy="3337697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3F5338BA-40E0-77FE-9442-FF5F80C564DE}"/>
                </a:ext>
              </a:extLst>
            </p:cNvPr>
            <p:cNvCxnSpPr>
              <a:cxnSpLocks/>
            </p:cNvCxnSpPr>
            <p:nvPr/>
          </p:nvCxnSpPr>
          <p:spPr>
            <a:xfrm>
              <a:off x="8966493" y="1782508"/>
              <a:ext cx="0" cy="333285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451106FE-E867-8482-AB65-87E279686CB5}"/>
                </a:ext>
              </a:extLst>
            </p:cNvPr>
            <p:cNvCxnSpPr>
              <a:cxnSpLocks/>
            </p:cNvCxnSpPr>
            <p:nvPr/>
          </p:nvCxnSpPr>
          <p:spPr>
            <a:xfrm>
              <a:off x="9270305" y="1782508"/>
              <a:ext cx="0" cy="333285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30EC94C6-7A4B-5872-4D70-84621606BFA3}"/>
                </a:ext>
              </a:extLst>
            </p:cNvPr>
            <p:cNvCxnSpPr>
              <a:cxnSpLocks/>
            </p:cNvCxnSpPr>
            <p:nvPr/>
          </p:nvCxnSpPr>
          <p:spPr>
            <a:xfrm>
              <a:off x="9574117" y="1774287"/>
              <a:ext cx="0" cy="3341071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CA88110D-87AC-126E-B02E-2CE0E9702ECE}"/>
                </a:ext>
              </a:extLst>
            </p:cNvPr>
            <p:cNvCxnSpPr>
              <a:cxnSpLocks/>
            </p:cNvCxnSpPr>
            <p:nvPr/>
          </p:nvCxnSpPr>
          <p:spPr>
            <a:xfrm>
              <a:off x="9877929" y="1782508"/>
              <a:ext cx="0" cy="333285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51267296-F698-AE2D-6538-B29DD8EA0CB4}"/>
                </a:ext>
              </a:extLst>
            </p:cNvPr>
            <p:cNvCxnSpPr>
              <a:cxnSpLocks/>
            </p:cNvCxnSpPr>
            <p:nvPr/>
          </p:nvCxnSpPr>
          <p:spPr>
            <a:xfrm>
              <a:off x="10181741" y="1774287"/>
              <a:ext cx="0" cy="3341071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F03B9A3D-EBE4-D104-BB17-17A50DCAD11B}"/>
                </a:ext>
              </a:extLst>
            </p:cNvPr>
            <p:cNvCxnSpPr>
              <a:cxnSpLocks/>
            </p:cNvCxnSpPr>
            <p:nvPr/>
          </p:nvCxnSpPr>
          <p:spPr>
            <a:xfrm>
              <a:off x="10488991" y="1766954"/>
              <a:ext cx="0" cy="334840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6A0FB49B-0503-6FAF-8E9F-57D65E0BDE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97643" y="1782508"/>
              <a:ext cx="4228" cy="3329476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1" name="Rectangle: Rounded Corners 160">
              <a:extLst>
                <a:ext uri="{FF2B5EF4-FFF2-40B4-BE49-F238E27FC236}">
                  <a16:creationId xmlns:a16="http://schemas.microsoft.com/office/drawing/2014/main" id="{EB775E10-71A8-77F4-3F34-CF79AA92D5AA}"/>
                </a:ext>
              </a:extLst>
            </p:cNvPr>
            <p:cNvSpPr/>
            <p:nvPr/>
          </p:nvSpPr>
          <p:spPr>
            <a:xfrm>
              <a:off x="2986704" y="1860188"/>
              <a:ext cx="1035223" cy="118193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6" name="Rectangle: Rounded Corners 165">
              <a:extLst>
                <a:ext uri="{FF2B5EF4-FFF2-40B4-BE49-F238E27FC236}">
                  <a16:creationId xmlns:a16="http://schemas.microsoft.com/office/drawing/2014/main" id="{ADB8585D-D7CA-B0E3-4ABA-AD33A646BBE6}"/>
                </a:ext>
              </a:extLst>
            </p:cNvPr>
            <p:cNvSpPr/>
            <p:nvPr/>
          </p:nvSpPr>
          <p:spPr>
            <a:xfrm>
              <a:off x="4015230" y="3306637"/>
              <a:ext cx="1262042" cy="16068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7" name="Rectangle: Rounded Corners 166">
              <a:extLst>
                <a:ext uri="{FF2B5EF4-FFF2-40B4-BE49-F238E27FC236}">
                  <a16:creationId xmlns:a16="http://schemas.microsoft.com/office/drawing/2014/main" id="{54476169-29BD-8181-3143-3BD12C5E2AF9}"/>
                </a:ext>
              </a:extLst>
            </p:cNvPr>
            <p:cNvSpPr/>
            <p:nvPr/>
          </p:nvSpPr>
          <p:spPr>
            <a:xfrm>
              <a:off x="5017661" y="3724819"/>
              <a:ext cx="594281" cy="144647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2" name="Rectangle: Rounded Corners 171">
              <a:extLst>
                <a:ext uri="{FF2B5EF4-FFF2-40B4-BE49-F238E27FC236}">
                  <a16:creationId xmlns:a16="http://schemas.microsoft.com/office/drawing/2014/main" id="{EFF1F8A1-55F6-7DA3-9C61-B3E2D3D47505}"/>
                </a:ext>
              </a:extLst>
            </p:cNvPr>
            <p:cNvSpPr/>
            <p:nvPr/>
          </p:nvSpPr>
          <p:spPr>
            <a:xfrm>
              <a:off x="3012656" y="4762040"/>
              <a:ext cx="4656084" cy="144000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C5090C2-14DA-DB80-2506-95D71E294F6D}"/>
                </a:ext>
              </a:extLst>
            </p:cNvPr>
            <p:cNvSpPr/>
            <p:nvPr/>
          </p:nvSpPr>
          <p:spPr>
            <a:xfrm>
              <a:off x="2979247" y="1552338"/>
              <a:ext cx="199722" cy="1967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W1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E607704-57F9-E4E2-2210-2DD68F63E24B}"/>
                </a:ext>
              </a:extLst>
            </p:cNvPr>
            <p:cNvSpPr/>
            <p:nvPr/>
          </p:nvSpPr>
          <p:spPr>
            <a:xfrm>
              <a:off x="3277721" y="1553195"/>
              <a:ext cx="199722" cy="1967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W2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9DC9883-A17C-B294-164D-D1292C75DE8F}"/>
                </a:ext>
              </a:extLst>
            </p:cNvPr>
            <p:cNvSpPr/>
            <p:nvPr/>
          </p:nvSpPr>
          <p:spPr>
            <a:xfrm>
              <a:off x="3573031" y="1553195"/>
              <a:ext cx="199722" cy="1967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W3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F3AAC8C-CC85-6116-3ADB-8117B66599C5}"/>
                </a:ext>
              </a:extLst>
            </p:cNvPr>
            <p:cNvSpPr/>
            <p:nvPr/>
          </p:nvSpPr>
          <p:spPr>
            <a:xfrm>
              <a:off x="3859476" y="1555739"/>
              <a:ext cx="199722" cy="1967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W4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9E39E1E-952F-0909-8842-E79F1DCCFFF1}"/>
                </a:ext>
              </a:extLst>
            </p:cNvPr>
            <p:cNvSpPr/>
            <p:nvPr/>
          </p:nvSpPr>
          <p:spPr>
            <a:xfrm>
              <a:off x="4157950" y="1550016"/>
              <a:ext cx="199722" cy="1967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W5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ED2533FD-7F1F-6127-1D34-90D191E05254}"/>
                </a:ext>
              </a:extLst>
            </p:cNvPr>
            <p:cNvSpPr/>
            <p:nvPr/>
          </p:nvSpPr>
          <p:spPr>
            <a:xfrm>
              <a:off x="4403835" y="1550888"/>
              <a:ext cx="208586" cy="1967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W1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730160D-829B-35A6-DCA7-42808E6ECAFB}"/>
                </a:ext>
              </a:extLst>
            </p:cNvPr>
            <p:cNvSpPr/>
            <p:nvPr/>
          </p:nvSpPr>
          <p:spPr>
            <a:xfrm>
              <a:off x="4641432" y="1552657"/>
              <a:ext cx="212943" cy="1967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W2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909E0974-4647-2E18-8EBA-CA19228AB89B}"/>
                </a:ext>
              </a:extLst>
            </p:cNvPr>
            <p:cNvSpPr/>
            <p:nvPr/>
          </p:nvSpPr>
          <p:spPr>
            <a:xfrm>
              <a:off x="4879076" y="1547381"/>
              <a:ext cx="214438" cy="1967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W3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4A90A02F-ED7E-05CE-2143-23CF1E45BA73}"/>
                </a:ext>
              </a:extLst>
            </p:cNvPr>
            <p:cNvSpPr/>
            <p:nvPr/>
          </p:nvSpPr>
          <p:spPr>
            <a:xfrm>
              <a:off x="5118215" y="1550888"/>
              <a:ext cx="241907" cy="19064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W4</a:t>
              </a:r>
            </a:p>
          </p:txBody>
        </p:sp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CA24B7D1-E7A7-4989-C2F3-DAA78EFC3841}"/>
                </a:ext>
              </a:extLst>
            </p:cNvPr>
            <p:cNvSpPr/>
            <p:nvPr/>
          </p:nvSpPr>
          <p:spPr>
            <a:xfrm>
              <a:off x="3972884" y="2351159"/>
              <a:ext cx="793367" cy="144000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D5A2F69F-BBFA-A89B-F937-D621CC555227}"/>
                </a:ext>
              </a:extLst>
            </p:cNvPr>
            <p:cNvSpPr/>
            <p:nvPr/>
          </p:nvSpPr>
          <p:spPr>
            <a:xfrm>
              <a:off x="3987160" y="2912368"/>
              <a:ext cx="779091" cy="144000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19" name="Rectangle: Top Corners Rounded 318">
              <a:extLst>
                <a:ext uri="{FF2B5EF4-FFF2-40B4-BE49-F238E27FC236}">
                  <a16:creationId xmlns:a16="http://schemas.microsoft.com/office/drawing/2014/main" id="{AE297EA6-98E0-52C4-6C6B-D225D9CDFD36}"/>
                </a:ext>
              </a:extLst>
            </p:cNvPr>
            <p:cNvSpPr/>
            <p:nvPr/>
          </p:nvSpPr>
          <p:spPr>
            <a:xfrm>
              <a:off x="8034576" y="1241906"/>
              <a:ext cx="1244991" cy="275301"/>
            </a:xfrm>
            <a:prstGeom prst="round2Same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September</a:t>
              </a:r>
            </a:p>
          </p:txBody>
        </p:sp>
        <p:sp>
          <p:nvSpPr>
            <p:cNvPr id="320" name="Rectangle: Top Corners Rounded 319">
              <a:extLst>
                <a:ext uri="{FF2B5EF4-FFF2-40B4-BE49-F238E27FC236}">
                  <a16:creationId xmlns:a16="http://schemas.microsoft.com/office/drawing/2014/main" id="{15CFF7F3-8988-CFD0-73A6-96B3BB526FE5}"/>
                </a:ext>
              </a:extLst>
            </p:cNvPr>
            <p:cNvSpPr/>
            <p:nvPr/>
          </p:nvSpPr>
          <p:spPr>
            <a:xfrm>
              <a:off x="9304239" y="1242941"/>
              <a:ext cx="1493405" cy="275301"/>
            </a:xfrm>
            <a:prstGeom prst="round2Same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October</a:t>
              </a:r>
            </a:p>
          </p:txBody>
        </p:sp>
        <p:sp>
          <p:nvSpPr>
            <p:cNvPr id="321" name="Rectangle 320">
              <a:extLst>
                <a:ext uri="{FF2B5EF4-FFF2-40B4-BE49-F238E27FC236}">
                  <a16:creationId xmlns:a16="http://schemas.microsoft.com/office/drawing/2014/main" id="{681177EA-9330-B9BD-2582-2676F99F3FEC}"/>
                </a:ext>
              </a:extLst>
            </p:cNvPr>
            <p:cNvSpPr/>
            <p:nvPr/>
          </p:nvSpPr>
          <p:spPr>
            <a:xfrm>
              <a:off x="8043838" y="1553534"/>
              <a:ext cx="177172" cy="18244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W1</a:t>
              </a:r>
            </a:p>
          </p:txBody>
        </p:sp>
        <p:sp>
          <p:nvSpPr>
            <p:cNvPr id="322" name="Rectangle 321">
              <a:extLst>
                <a:ext uri="{FF2B5EF4-FFF2-40B4-BE49-F238E27FC236}">
                  <a16:creationId xmlns:a16="http://schemas.microsoft.com/office/drawing/2014/main" id="{6B54CCC7-B253-F8F1-B2E0-CC63F4AAC6C1}"/>
                </a:ext>
              </a:extLst>
            </p:cNvPr>
            <p:cNvSpPr/>
            <p:nvPr/>
          </p:nvSpPr>
          <p:spPr>
            <a:xfrm>
              <a:off x="8276993" y="1553534"/>
              <a:ext cx="167107" cy="18244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W2</a:t>
              </a:r>
            </a:p>
          </p:txBody>
        </p:sp>
        <p:sp>
          <p:nvSpPr>
            <p:cNvPr id="323" name="Rectangle 322">
              <a:extLst>
                <a:ext uri="{FF2B5EF4-FFF2-40B4-BE49-F238E27FC236}">
                  <a16:creationId xmlns:a16="http://schemas.microsoft.com/office/drawing/2014/main" id="{7A8C5DFF-1049-A7F5-80CA-F36DAB64540D}"/>
                </a:ext>
              </a:extLst>
            </p:cNvPr>
            <p:cNvSpPr/>
            <p:nvPr/>
          </p:nvSpPr>
          <p:spPr>
            <a:xfrm>
              <a:off x="8510984" y="1555739"/>
              <a:ext cx="178979" cy="1802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W3</a:t>
              </a:r>
            </a:p>
          </p:txBody>
        </p:sp>
        <p:sp>
          <p:nvSpPr>
            <p:cNvPr id="324" name="Rectangle 323">
              <a:extLst>
                <a:ext uri="{FF2B5EF4-FFF2-40B4-BE49-F238E27FC236}">
                  <a16:creationId xmlns:a16="http://schemas.microsoft.com/office/drawing/2014/main" id="{BA84D693-1EDE-BFD6-F001-3CBC83EE6F3C}"/>
                </a:ext>
              </a:extLst>
            </p:cNvPr>
            <p:cNvSpPr/>
            <p:nvPr/>
          </p:nvSpPr>
          <p:spPr>
            <a:xfrm>
              <a:off x="8742803" y="1563999"/>
              <a:ext cx="199722" cy="17198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W4</a:t>
              </a:r>
            </a:p>
          </p:txBody>
        </p:sp>
        <p:sp>
          <p:nvSpPr>
            <p:cNvPr id="325" name="Rectangle 324">
              <a:extLst>
                <a:ext uri="{FF2B5EF4-FFF2-40B4-BE49-F238E27FC236}">
                  <a16:creationId xmlns:a16="http://schemas.microsoft.com/office/drawing/2014/main" id="{269B99DA-6055-F297-2738-04631380D6A3}"/>
                </a:ext>
              </a:extLst>
            </p:cNvPr>
            <p:cNvSpPr/>
            <p:nvPr/>
          </p:nvSpPr>
          <p:spPr>
            <a:xfrm>
              <a:off x="8999201" y="1555173"/>
              <a:ext cx="199722" cy="18383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W5</a:t>
              </a:r>
            </a:p>
          </p:txBody>
        </p:sp>
        <p:sp>
          <p:nvSpPr>
            <p:cNvPr id="326" name="Rectangle 325">
              <a:extLst>
                <a:ext uri="{FF2B5EF4-FFF2-40B4-BE49-F238E27FC236}">
                  <a16:creationId xmlns:a16="http://schemas.microsoft.com/office/drawing/2014/main" id="{36D5BF11-1D12-F2A7-9E39-B0CAAE217BF5}"/>
                </a:ext>
              </a:extLst>
            </p:cNvPr>
            <p:cNvSpPr/>
            <p:nvPr/>
          </p:nvSpPr>
          <p:spPr>
            <a:xfrm>
              <a:off x="9300699" y="1554411"/>
              <a:ext cx="226258" cy="18645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W1</a:t>
              </a:r>
            </a:p>
          </p:txBody>
        </p:sp>
        <p:sp>
          <p:nvSpPr>
            <p:cNvPr id="327" name="Rectangle 326">
              <a:extLst>
                <a:ext uri="{FF2B5EF4-FFF2-40B4-BE49-F238E27FC236}">
                  <a16:creationId xmlns:a16="http://schemas.microsoft.com/office/drawing/2014/main" id="{AEF90BF0-E42D-DF3F-7935-0401A2D6ED93}"/>
                </a:ext>
              </a:extLst>
            </p:cNvPr>
            <p:cNvSpPr/>
            <p:nvPr/>
          </p:nvSpPr>
          <p:spPr>
            <a:xfrm>
              <a:off x="9573404" y="1556757"/>
              <a:ext cx="267952" cy="1864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W2</a:t>
              </a:r>
            </a:p>
          </p:txBody>
        </p:sp>
        <p:sp>
          <p:nvSpPr>
            <p:cNvPr id="328" name="Rectangle 327">
              <a:extLst>
                <a:ext uri="{FF2B5EF4-FFF2-40B4-BE49-F238E27FC236}">
                  <a16:creationId xmlns:a16="http://schemas.microsoft.com/office/drawing/2014/main" id="{FD472909-59F6-54A4-ACD7-9BFEB13027AD}"/>
                </a:ext>
              </a:extLst>
            </p:cNvPr>
            <p:cNvSpPr/>
            <p:nvPr/>
          </p:nvSpPr>
          <p:spPr>
            <a:xfrm>
              <a:off x="9906139" y="1558832"/>
              <a:ext cx="226258" cy="18645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W3</a:t>
              </a:r>
            </a:p>
          </p:txBody>
        </p:sp>
        <p:sp>
          <p:nvSpPr>
            <p:cNvPr id="329" name="Rectangle 328">
              <a:extLst>
                <a:ext uri="{FF2B5EF4-FFF2-40B4-BE49-F238E27FC236}">
                  <a16:creationId xmlns:a16="http://schemas.microsoft.com/office/drawing/2014/main" id="{C9DA214E-1B36-803E-0D06-22DD21A6D897}"/>
                </a:ext>
              </a:extLst>
            </p:cNvPr>
            <p:cNvSpPr/>
            <p:nvPr/>
          </p:nvSpPr>
          <p:spPr>
            <a:xfrm>
              <a:off x="10215453" y="1555173"/>
              <a:ext cx="199722" cy="18756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W4</a:t>
              </a:r>
            </a:p>
          </p:txBody>
        </p:sp>
        <p:sp>
          <p:nvSpPr>
            <p:cNvPr id="330" name="Rectangle 329">
              <a:extLst>
                <a:ext uri="{FF2B5EF4-FFF2-40B4-BE49-F238E27FC236}">
                  <a16:creationId xmlns:a16="http://schemas.microsoft.com/office/drawing/2014/main" id="{E04B4589-3E03-4C6A-8681-C595A45C8020}"/>
                </a:ext>
              </a:extLst>
            </p:cNvPr>
            <p:cNvSpPr/>
            <p:nvPr/>
          </p:nvSpPr>
          <p:spPr>
            <a:xfrm>
              <a:off x="10528652" y="1545227"/>
              <a:ext cx="199722" cy="1967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W5</a:t>
              </a:r>
            </a:p>
          </p:txBody>
        </p:sp>
        <p:sp>
          <p:nvSpPr>
            <p:cNvPr id="353" name="Rectangle: Rounded Corners 352">
              <a:extLst>
                <a:ext uri="{FF2B5EF4-FFF2-40B4-BE49-F238E27FC236}">
                  <a16:creationId xmlns:a16="http://schemas.microsoft.com/office/drawing/2014/main" id="{9F29BB83-F389-EF70-76A9-40BB5DFCDD05}"/>
                </a:ext>
              </a:extLst>
            </p:cNvPr>
            <p:cNvSpPr/>
            <p:nvPr/>
          </p:nvSpPr>
          <p:spPr>
            <a:xfrm>
              <a:off x="5520501" y="4257462"/>
              <a:ext cx="1188838" cy="148184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E794446-7C72-200C-253D-86AC4E261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C7F80-EE1A-4CD1-A379-9B77B0EEE16D}" type="slidenum">
              <a:rPr lang="en-IN" smtClean="0"/>
              <a:t>11</a:t>
            </a:fld>
            <a:endParaRPr lang="en-IN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9D3CD97-16B4-7A47-A852-E8DC4D1282B9}"/>
              </a:ext>
            </a:extLst>
          </p:cNvPr>
          <p:cNvSpPr txBox="1"/>
          <p:nvPr/>
        </p:nvSpPr>
        <p:spPr>
          <a:xfrm>
            <a:off x="978303" y="2079356"/>
            <a:ext cx="19321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Clustering Analysis --</a:t>
            </a:r>
          </a:p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Designing Distance        Metrics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0D46D94-B1E4-501B-6289-AD75B1D80CDB}"/>
              </a:ext>
            </a:extLst>
          </p:cNvPr>
          <p:cNvSpPr txBox="1"/>
          <p:nvPr/>
        </p:nvSpPr>
        <p:spPr>
          <a:xfrm>
            <a:off x="955944" y="2819201"/>
            <a:ext cx="17459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Optimising Parameters</a:t>
            </a:r>
          </a:p>
        </p:txBody>
      </p:sp>
    </p:spTree>
    <p:extLst>
      <p:ext uri="{BB962C8B-B14F-4D97-AF65-F5344CB8AC3E}">
        <p14:creationId xmlns:p14="http://schemas.microsoft.com/office/powerpoint/2010/main" val="3049592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1D16BAC9-7596-B780-EC47-74CDD3D0D0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74419" y="12812"/>
            <a:ext cx="4217581" cy="1528909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77C0480D-B6A5-B844-B026-3941D93313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-1" y="5695634"/>
            <a:ext cx="2573080" cy="1162364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743DB06F-706B-8BD3-629F-272569D1BF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7976" y="411651"/>
            <a:ext cx="530548" cy="709148"/>
          </a:xfrm>
          <a:prstGeom prst="rect">
            <a:avLst/>
          </a:prstGeom>
        </p:spPr>
      </p:pic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80373AAD-179F-C2EE-ECAA-0E00496628D6}"/>
              </a:ext>
            </a:extLst>
          </p:cNvPr>
          <p:cNvSpPr/>
          <p:nvPr/>
        </p:nvSpPr>
        <p:spPr>
          <a:xfrm rot="16200000">
            <a:off x="6488365" y="-4649291"/>
            <a:ext cx="576238" cy="10831033"/>
          </a:xfrm>
          <a:prstGeom prst="round2Same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A3F9CE8-9E1A-1525-1606-C6056E973A99}"/>
              </a:ext>
            </a:extLst>
          </p:cNvPr>
          <p:cNvSpPr txBox="1">
            <a:spLocks/>
          </p:cNvSpPr>
          <p:nvPr/>
        </p:nvSpPr>
        <p:spPr>
          <a:xfrm>
            <a:off x="1639006" y="560700"/>
            <a:ext cx="10102702" cy="4535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Summary </a:t>
            </a:r>
            <a:endParaRPr lang="en-IN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46CC9B6-6ADC-737E-0546-3D5C69991EE3}"/>
              </a:ext>
            </a:extLst>
          </p:cNvPr>
          <p:cNvSpPr/>
          <p:nvPr/>
        </p:nvSpPr>
        <p:spPr>
          <a:xfrm>
            <a:off x="1360967" y="1418646"/>
            <a:ext cx="9814249" cy="498383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B4C7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Collaborative effort to understand and predict rheumatoid arthritis (RA) flares.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Advanced methodologies like Optics and clustering analysis employed for data analysis.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Focus on identifying predictive biomarkers for RA flare prediction.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Expected outcomes include  development of prediction models for RA flares and personalized treatment strategies.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Detailed timeline outlines project phases from literature review to result validation.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Future directions may involve further validation studies and clinical applications to improve RA management.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01B4FB-2999-86CB-4D47-03B0C4294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C7F80-EE1A-4CD1-A379-9B77B0EEE16D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9000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3088</TotalTime>
  <Words>988</Words>
  <Application>Microsoft Office PowerPoint</Application>
  <PresentationFormat>Widescreen</PresentationFormat>
  <Paragraphs>241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Segoe UI</vt:lpstr>
      <vt:lpstr>Office Theme</vt:lpstr>
      <vt:lpstr>Prediction Of Flares In RA Patient 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Prediction Of Flares In  RA Patient</dc:title>
  <dc:creator>Rishika Madhanagopal</dc:creator>
  <cp:lastModifiedBy>Rishika Madhanagopal</cp:lastModifiedBy>
  <cp:revision>38</cp:revision>
  <cp:lastPrinted>2024-05-31T11:52:56Z</cp:lastPrinted>
  <dcterms:created xsi:type="dcterms:W3CDTF">2024-03-21T02:26:47Z</dcterms:created>
  <dcterms:modified xsi:type="dcterms:W3CDTF">2024-05-31T11:53:51Z</dcterms:modified>
</cp:coreProperties>
</file>